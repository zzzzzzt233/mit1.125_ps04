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b2e4d31f254b17" /><Relationship Type="http://schemas.openxmlformats.org/officeDocument/2006/relationships/extended-properties" Target="/docProps/app.xml" Id="R1e468cdf95624a50" /><Relationship Type="http://schemas.openxmlformats.org/officeDocument/2006/relationships/officeDocument" Target="/ppt/presentation.xml" Id="Ra645eef07db1436c" /></Relationships>
</file>

<file path=ppt/presentation.xml><?xml version="1.0" encoding="utf-8"?>
<p:presentation xmlns:p="http://schemas.openxmlformats.org/presentationml/2006/main">
  <p:sldMasterIdLst>
    <p:sldMasterId xmlns:r="http://schemas.openxmlformats.org/officeDocument/2006/relationships" id="2147483648" r:id="R5bc1b9155a4f498a"/>
  </p:sldMasterIdLst>
  <p:notesMasterIdLst>
    <p:notesMasterId xmlns:r="http://schemas.openxmlformats.org/officeDocument/2006/relationships" r:id="Rf676f546c7744be1"/>
  </p:notesMasterIdLst>
  <p:sldIdLst>
    <p:sldId xmlns:r="http://schemas.openxmlformats.org/officeDocument/2006/relationships" id="256" r:id="R10db07bd252047c5"/>
    <p:sldId xmlns:r="http://schemas.openxmlformats.org/officeDocument/2006/relationships" id="257" r:id="R4da189fb984c4013"/>
    <p:sldId xmlns:r="http://schemas.openxmlformats.org/officeDocument/2006/relationships" id="258" r:id="Rebf071ebe6e24a13"/>
    <p:sldId xmlns:r="http://schemas.openxmlformats.org/officeDocument/2006/relationships" id="259" r:id="Rc5aec5b63071493c"/>
    <p:sldId xmlns:r="http://schemas.openxmlformats.org/officeDocument/2006/relationships" id="260" r:id="R97e2b6d8c6c84a05"/>
    <p:sldId xmlns:r="http://schemas.openxmlformats.org/officeDocument/2006/relationships" id="261" r:id="R7d0b875824fb49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0de38770be45f4" /><Relationship Type="http://schemas.openxmlformats.org/officeDocument/2006/relationships/slideMaster" Target="/ppt/slideMasters/slideMaster1.xml" Id="R5bc1b9155a4f498a" /><Relationship Type="http://schemas.openxmlformats.org/officeDocument/2006/relationships/notesMaster" Target="/ppt/notesMasters/notesMaster1.xml" Id="Rf676f546c7744be1" /><Relationship Type="http://schemas.openxmlformats.org/officeDocument/2006/relationships/presProps" Target="/ppt/presProps.xml" Id="R0a1bc0a9719f4b2d" /><Relationship Type="http://schemas.openxmlformats.org/officeDocument/2006/relationships/tableStyles" Target="/ppt/tableStyles.xml" Id="R8cbcffe671f3462d" /><Relationship Type="http://schemas.openxmlformats.org/officeDocument/2006/relationships/slide" Target="/ppt/slides/slide1.xml" Id="R10db07bd252047c5" /><Relationship Type="http://schemas.openxmlformats.org/officeDocument/2006/relationships/slide" Target="/ppt/slides/slide2.xml" Id="R4da189fb984c4013" /><Relationship Type="http://schemas.openxmlformats.org/officeDocument/2006/relationships/slide" Target="/ppt/slides/slide3.xml" Id="Rebf071ebe6e24a13" /><Relationship Type="http://schemas.openxmlformats.org/officeDocument/2006/relationships/slide" Target="/ppt/slides/slide4.xml" Id="Rc5aec5b63071493c" /><Relationship Type="http://schemas.openxmlformats.org/officeDocument/2006/relationships/slide" Target="/ppt/slides/slide5.xml" Id="R97e2b6d8c6c84a05" /><Relationship Type="http://schemas.openxmlformats.org/officeDocument/2006/relationships/slide" Target="/ppt/slides/slide6.xml" Id="R7d0b875824fb49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22eb73b15d46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0d775b11c047ce" /><Relationship Type="http://schemas.openxmlformats.org/officeDocument/2006/relationships/notesMaster" Target="/ppt/notesMasters/notesMaster1.xml" Id="R64d3a3fad4824f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77bea822724218" /><Relationship Type="http://schemas.openxmlformats.org/officeDocument/2006/relationships/notesMaster" Target="/ppt/notesMasters/notesMaster1.xml" Id="R786772f21d4941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8556923db540b4" /><Relationship Type="http://schemas.openxmlformats.org/officeDocument/2006/relationships/notesMaster" Target="/ppt/notesMasters/notesMaster1.xml" Id="Rce116d2cf37e4f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8cf8f91ca7437b" /><Relationship Type="http://schemas.openxmlformats.org/officeDocument/2006/relationships/notesMaster" Target="/ppt/notesMasters/notesMaster1.xml" Id="R685d6f4f090843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6cfdea085442bb" /><Relationship Type="http://schemas.openxmlformats.org/officeDocument/2006/relationships/notesMaster" Target="/ppt/notesMasters/notesMaster1.xml" Id="Rdbfe39ffc74d42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e470ad67e444b9" /><Relationship Type="http://schemas.openxmlformats.org/officeDocument/2006/relationships/notesMaster" Target="/ppt/notesMasters/notesMaster1.xml" Id="R2e0c4a3a77bf48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 new AI release is announced, the headline rarely answers the most practical question: can you actually use it? Access might mean a paid hosted service, a model you download and run yourself, or a demo that lets you experiment but not build a production application. One new creative platform adds another set of conditions: location, age and subscription tier. These are different routes, not interchangeable meanings of “launched.” Let’s look at what each route offers—and what the announcements do not establish.</a:t>
            </a:r>
          </a:p>
          <a:p xmlns:a="http://schemas.openxmlformats.org/drawingml/2006/main">
            <a:r>
              <a:t/>
            </a:r>
          </a:p>
          <a:p xmlns:a="http://schemas.openxmlformats.org/drawingml/2006/main">
            <a:r>
              <a:t>SOURCE REFERENCES (not narration):</a:t>
            </a:r>
          </a:p>
          <a:p xmlns:a="http://schemas.openxmlformats.org/drawingml/2006/main">
            <a:r>
              <a:t>https://blog.google/innovation-and-ai/models-and-research/gemini-models/introducing-gemini-4-argon/</a:t>
            </a:r>
          </a:p>
          <a:p xmlns:a="http://schemas.openxmlformats.org/drawingml/2006/main">
            <a:r>
              <a:t>https://huggingface.co/blog/LiquidAI/lfm25-24b-a2b</a:t>
            </a:r>
          </a:p>
          <a:p xmlns:a="http://schemas.openxmlformats.org/drawingml/2006/main">
            <a:r>
              <a:t>https://huggingface.co/blog/tiiuae/falcon-asr</a:t>
            </a:r>
          </a:p>
          <a:p xmlns:a="http://schemas.openxmlformats.org/drawingml/2006/main">
            <a:r>
              <a:t>https://blog.google/innovation-and-ai/technology/ai/playground-experimental-gaming-platform/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says Gemini 4 Argon is globally available to developers and enterprises through APIs, and through selected paid consumer channels. The company also states that its API supports a unified input-and-output limit of one million tokens. Tokens are the small units of text a model processes or generates; a large limit can accommodate substantial material in one exchange. But access still depends on the channel and account. Google’s announcement documents what the company says is available, not independent confirmation of the model’s performance or every user’s experience.</a:t>
            </a:r>
          </a:p>
          <a:p xmlns:a="http://schemas.openxmlformats.org/drawingml/2006/main">
            <a:r>
              <a:t/>
            </a:r>
          </a:p>
          <a:p xmlns:a="http://schemas.openxmlformats.org/drawingml/2006/main">
            <a:r>
              <a:t>SOURCE REFERENCES (not narration):</a:t>
            </a:r>
          </a:p>
          <a:p xmlns:a="http://schemas.openxmlformats.org/drawingml/2006/main">
            <a:r>
              <a:t>https://blog.google/innovation-and-ai/models-and-research/gemini-models/introducing-gemini-4-argon/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Liquid AI describes a different option for its LFM2.5-24B-A2B model and base version: both are open-weight and available on Hugging Face. Open weights are downloadable learned parameters, which can let users run or adapt a model themselves. Liquid AI says the model has 24 billion parameters in total, with two billion active for each token it processes. That description does not tell us how easy it is to run on a particular computer, and open weights alone do not mean every part of a system is fully open-source.</a:t>
            </a:r>
          </a:p>
          <a:p xmlns:a="http://schemas.openxmlformats.org/drawingml/2006/main">
            <a:r>
              <a:t/>
            </a:r>
          </a:p>
          <a:p xmlns:a="http://schemas.openxmlformats.org/drawingml/2006/main">
            <a:r>
              <a:t>SOURCE REFERENCES (not narration):</a:t>
            </a:r>
          </a:p>
          <a:p xmlns:a="http://schemas.openxmlformats.org/drawingml/2006/main">
            <a:r>
              <a:t>https://huggingface.co/blog/LiquidAI/lfm25-24b-a2b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TII’s Falcon-ASR offers a third route. Its Hugging Face demo lets people try the speech-transcription model, while TII says API access and native applications are planned. That distinction matters for anyone who wants to integrate a model into software: a demo can support exploration without providing a production interface. Google’s Playground is a product example with its own limits. Google describes it as an experimental browser game platform, initially for U.S. users aged 18 or older, with game-creation access rolling out by subscription tier. The announcement does not establish game quality or lasting demand.</a:t>
            </a:r>
          </a:p>
          <a:p xmlns:a="http://schemas.openxmlformats.org/drawingml/2006/main">
            <a:r>
              <a:t/>
            </a:r>
          </a:p>
          <a:p xmlns:a="http://schemas.openxmlformats.org/drawingml/2006/main">
            <a:r>
              <a:t>SOURCE REFERENCES (not narration):</a:t>
            </a:r>
          </a:p>
          <a:p xmlns:a="http://schemas.openxmlformats.org/drawingml/2006/main">
            <a:r>
              <a:t>https://huggingface.co/blog/tiiuae/falcon-asr</a:t>
            </a:r>
          </a:p>
          <a:p xmlns:a="http://schemas.openxmlformats.org/drawingml/2006/main">
            <a:r>
              <a:t>https://blog.google/innovation-and-ai/technology/ai/playground-experimental-gaming-platform/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creator’s early-access account adds a small practical check. Matt Wolfe disclosed that he had early access and a Google briefing. He reports making and printing a three-dimensional bust with Argon, but says its task feature stalled during two tests. A successful artifact and a frustrating workflow can coexist. Still, this is one creator’s limited, non-standardized account—not a controlled evaluation. Two attempts cannot tell us how often the feature works, and the transcript would need to be checked against the recording before relying on fine detail.</a:t>
            </a:r>
          </a:p>
          <a:p xmlns:a="http://schemas.openxmlformats.org/drawingml/2006/main">
            <a:r>
              <a:t/>
            </a:r>
          </a:p>
          <a:p xmlns:a="http://schemas.openxmlformats.org/drawingml/2006/main">
            <a:r>
              <a:t>SOURCE REFERENCES (not narration):</a:t>
            </a:r>
          </a:p>
          <a:p xmlns:a="http://schemas.openxmlformats.org/drawingml/2006/main">
            <a:r>
              <a:t>https://www.youtube.com/watch?v=eBszYxzE2dk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Together, these examples show why a release label is not enough. Hosted access may depend on paid channels; downloadable weights offer control but require users to run the model; a demo is not the same as an available API; and an experimental product can have geographic, age and subscription restrictions. The evidence is mostly company descriptions, plus one early-access account. It cannot rank these systems or establish comprehensive availability, and vendor capability claims remain unverified here. Before choosing what to try, ask the practical question: which access route and deployment option can you use now?</a:t>
            </a:r>
          </a:p>
          <a:p xmlns:a="http://schemas.openxmlformats.org/drawingml/2006/main">
            <a:r>
              <a:t/>
            </a:r>
          </a:p>
          <a:p xmlns:a="http://schemas.openxmlformats.org/drawingml/2006/main">
            <a:r>
              <a:t>SOURCE REFERENCES (not narration):</a:t>
            </a:r>
          </a:p>
          <a:p xmlns:a="http://schemas.openxmlformats.org/drawingml/2006/main">
            <a:r>
              <a:t>https://blog.google/innovation-and-ai/models-and-research/gemini-models/introducing-gemini-4-argon/</a:t>
            </a:r>
          </a:p>
          <a:p xmlns:a="http://schemas.openxmlformats.org/drawingml/2006/main">
            <a:r>
              <a:t>https://huggingface.co/blog/LiquidAI/lfm25-24b-a2b</a:t>
            </a:r>
          </a:p>
          <a:p xmlns:a="http://schemas.openxmlformats.org/drawingml/2006/main">
            <a:r>
              <a:t>https://huggingface.co/blog/tiiuae/falcon-asr</a:t>
            </a:r>
          </a:p>
          <a:p xmlns:a="http://schemas.openxmlformats.org/drawingml/2006/main">
            <a:r>
              <a:t>https://blog.google/innovation-and-ai/technology/ai/playground-experimental-gaming-platform/</a:t>
            </a:r>
          </a:p>
          <a:p xmlns:a="http://schemas.openxmlformats.org/drawingml/2006/main">
            <a:r>
              <a:t>https://www.youtube.com/watch?v=eBszYxzE2dk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7d974c7f7247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ffc7dc494c4853" /><Relationship Type="http://schemas.openxmlformats.org/officeDocument/2006/relationships/slideLayout" Target="/ppt/slideLayouts/slideLayout1.xml" Id="Rcc0a080831f842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0a080831f842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98a38c1169451f" /><Relationship Type="http://schemas.openxmlformats.org/officeDocument/2006/relationships/notesSlide" Target="/ppt/notesSlides/notesSlide1.xml" Id="Rdf1bc182f0764b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d7341d0d914aee" /><Relationship Type="http://schemas.openxmlformats.org/officeDocument/2006/relationships/notesSlide" Target="/ppt/notesSlides/notesSlide2.xml" Id="R1e79a83718ab4c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5e1d37d00248b8" /><Relationship Type="http://schemas.openxmlformats.org/officeDocument/2006/relationships/notesSlide" Target="/ppt/notesSlides/notesSlide3.xml" Id="R5145bf7f8e0749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a7b7e3504d4585" /><Relationship Type="http://schemas.openxmlformats.org/officeDocument/2006/relationships/notesSlide" Target="/ppt/notesSlides/notesSlide4.xml" Id="R2501555c5fdb48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d5ec58c4334ce5" /><Relationship Type="http://schemas.openxmlformats.org/officeDocument/2006/relationships/notesSlide" Target="/ppt/notesSlides/notesSlide5.xml" Id="R5784ee324b3f4e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fc052156154c05" /><Relationship Type="http://schemas.openxmlformats.org/officeDocument/2006/relationships/notesSlide" Target="/ppt/notesSlides/notesSlide6.xml" Id="Rddfb3fdb07304876" /></Relationships>
</file>

<file path=ppt/slides/slide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62827F-42A2-46E0-8972-D0769D24110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4BA9BC8E-A826-4F90-8C6E-946784BCF9A2}"/>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What does available mean?</a:t>
            </a:r>
          </a:p>
        </p:txBody>
      </p:sp>
      <p:sp>
        <p:nvSpPr>
          <p:cNvPr id="3" name="">
            <a:extLst xmlns:a="http://schemas.openxmlformats.org/drawingml/2006/main">
              <a:ext uri="{FF2B5EF4-FFF2-40B4-BE49-F238E27FC236}">
                <a16:creationId xmlns:a16="http://schemas.microsoft.com/office/drawing/2014/main" id="{3F65E89E-AB0D-4D44-AC1E-8E5AB81076B8}"/>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HOSTED</a:t>
            </a:r>
          </a:p>
        </p:txBody>
      </p:sp>
      <p:sp>
        <p:nvSpPr>
          <p:cNvPr id="4" name="">
            <a:extLst xmlns:a="http://schemas.openxmlformats.org/drawingml/2006/main">
              <a:ext uri="{FF2B5EF4-FFF2-40B4-BE49-F238E27FC236}">
                <a16:creationId xmlns:a16="http://schemas.microsoft.com/office/drawing/2014/main" id="{E9B4E466-5A84-4481-A370-E579B860F8ED}"/>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 service you access</a:t>
            </a:r>
          </a:p>
        </p:txBody>
      </p:sp>
      <p:sp>
        <p:nvSpPr>
          <p:cNvPr id="5" name="">
            <a:extLst xmlns:a="http://schemas.openxmlformats.org/drawingml/2006/main">
              <a:ext uri="{FF2B5EF4-FFF2-40B4-BE49-F238E27FC236}">
                <a16:creationId xmlns:a16="http://schemas.microsoft.com/office/drawing/2014/main" id="{C4FF6836-61C6-4FE2-9C01-CD4534FF6A92}"/>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DOWNLOADABLE</a:t>
            </a:r>
          </a:p>
        </p:txBody>
      </p:sp>
      <p:sp>
        <p:nvSpPr>
          <p:cNvPr id="6" name="">
            <a:extLst xmlns:a="http://schemas.openxmlformats.org/drawingml/2006/main">
              <a:ext uri="{FF2B5EF4-FFF2-40B4-BE49-F238E27FC236}">
                <a16:creationId xmlns:a16="http://schemas.microsoft.com/office/drawing/2014/main" id="{15B386AC-935A-4224-898D-749F0CF42E20}"/>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Weights you run yourself</a:t>
            </a:r>
          </a:p>
        </p:txBody>
      </p:sp>
      <p:sp>
        <p:nvSpPr>
          <p:cNvPr id="7" name="">
            <a:extLst xmlns:a="http://schemas.openxmlformats.org/drawingml/2006/main">
              <a:ext uri="{FF2B5EF4-FFF2-40B4-BE49-F238E27FC236}">
                <a16:creationId xmlns:a16="http://schemas.microsoft.com/office/drawing/2014/main" id="{39B1A851-9D9D-45D7-BCBF-1BFD77FAC03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DEMO / EXPERIMENT</a:t>
            </a:r>
          </a:p>
        </p:txBody>
      </p:sp>
      <p:sp>
        <p:nvSpPr>
          <p:cNvPr id="8" name="">
            <a:extLst xmlns:a="http://schemas.openxmlformats.org/drawingml/2006/main">
              <a:ext uri="{FF2B5EF4-FFF2-40B4-BE49-F238E27FC236}">
                <a16:creationId xmlns:a16="http://schemas.microsoft.com/office/drawing/2014/main" id="{14873B44-370A-4E94-A7F7-C87C65890C5E}"/>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Access with conditions</a:t>
            </a:r>
          </a:p>
        </p:txBody>
      </p:sp>
      <p:sp>
        <p:nvSpPr>
          <p:cNvPr id="9" name="">
            <a:extLst xmlns:a="http://schemas.openxmlformats.org/drawingml/2006/main">
              <a:ext uri="{FF2B5EF4-FFF2-40B4-BE49-F238E27FC236}">
                <a16:creationId xmlns:a16="http://schemas.microsoft.com/office/drawing/2014/main" id="{620E691F-590F-4CF2-9270-8F0B37AA9F70}"/>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Google · Liquid AI · TII | Illustrative access routes</a:t>
            </a:r>
          </a:p>
        </p:txBody>
      </p:sp>
      <p:sp>
        <p:nvSpPr>
          <p:cNvPr id="10" name="">
            <a:extLst xmlns:a="http://schemas.openxmlformats.org/drawingml/2006/main">
              <a:ext uri="{FF2B5EF4-FFF2-40B4-BE49-F238E27FC236}">
                <a16:creationId xmlns:a16="http://schemas.microsoft.com/office/drawing/2014/main" id="{BA7390ED-81EB-4FC4-9787-9B51E7F49719}"/>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1/6</a:t>
            </a:r>
          </a:p>
        </p:txBody>
      </p:sp>
    </p:spTree>
    <p:extLst>
      <p:ext uri="{BB962C8B-B14F-4D97-AF65-F5344CB8AC3E}">
        <p14:creationId xmlns:p14="http://schemas.microsoft.com/office/powerpoint/2010/main" val="917784712"/>
      </p:ext>
    </p:extLst>
  </p:cSld>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B6953F-CA0D-430D-B5EF-5B44B0F29D1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CA9B9C27-143E-48A0-8D1E-724E963A604E}"/>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Google’s stated Argon access</a:t>
            </a:r>
          </a:p>
        </p:txBody>
      </p:sp>
      <p:sp>
        <p:nvSpPr>
          <p:cNvPr id="3" name="">
            <a:extLst xmlns:a="http://schemas.openxmlformats.org/drawingml/2006/main">
              <a:ext uri="{FF2B5EF4-FFF2-40B4-BE49-F238E27FC236}">
                <a16:creationId xmlns:a16="http://schemas.microsoft.com/office/drawing/2014/main" id="{F2E148F4-01DE-4E35-9019-247CFE918CD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DEVELOPER / ENTERPRISE</a:t>
            </a:r>
          </a:p>
        </p:txBody>
      </p:sp>
      <p:sp>
        <p:nvSpPr>
          <p:cNvPr id="4" name="">
            <a:extLst xmlns:a="http://schemas.openxmlformats.org/drawingml/2006/main">
              <a:ext uri="{FF2B5EF4-FFF2-40B4-BE49-F238E27FC236}">
                <a16:creationId xmlns:a16="http://schemas.microsoft.com/office/drawing/2014/main" id="{396F8C92-1996-422C-A98A-83E6C76A9178}"/>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API access</a:t>
            </a:r>
          </a:p>
        </p:txBody>
      </p:sp>
      <p:sp>
        <p:nvSpPr>
          <p:cNvPr id="5" name="">
            <a:extLst xmlns:a="http://schemas.openxmlformats.org/drawingml/2006/main">
              <a:ext uri="{FF2B5EF4-FFF2-40B4-BE49-F238E27FC236}">
                <a16:creationId xmlns:a16="http://schemas.microsoft.com/office/drawing/2014/main" id="{903E080A-3913-4720-9491-D5B43B5C2CD4}"/>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CONSUMER</a:t>
            </a:r>
          </a:p>
        </p:txBody>
      </p:sp>
      <p:sp>
        <p:nvSpPr>
          <p:cNvPr id="6" name="">
            <a:extLst xmlns:a="http://schemas.openxmlformats.org/drawingml/2006/main">
              <a:ext uri="{FF2B5EF4-FFF2-40B4-BE49-F238E27FC236}">
                <a16:creationId xmlns:a16="http://schemas.microsoft.com/office/drawing/2014/main" id="{EA932186-6DAF-49BE-A9D2-FE5AD063C40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Selected paid channels</a:t>
            </a:r>
          </a:p>
        </p:txBody>
      </p:sp>
      <p:sp>
        <p:nvSpPr>
          <p:cNvPr id="7" name="">
            <a:extLst xmlns:a="http://schemas.openxmlformats.org/drawingml/2006/main">
              <a:ext uri="{FF2B5EF4-FFF2-40B4-BE49-F238E27FC236}">
                <a16:creationId xmlns:a16="http://schemas.microsoft.com/office/drawing/2014/main" id="{C7528520-B858-4FCB-B43B-88371E407518}"/>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1 MILLION TOKENS</a:t>
            </a:r>
          </a:p>
        </p:txBody>
      </p:sp>
      <p:sp>
        <p:nvSpPr>
          <p:cNvPr id="8" name="">
            <a:extLst xmlns:a="http://schemas.openxmlformats.org/drawingml/2006/main">
              <a:ext uri="{FF2B5EF4-FFF2-40B4-BE49-F238E27FC236}">
                <a16:creationId xmlns:a16="http://schemas.microsoft.com/office/drawing/2014/main" id="{FD676AB3-1B2B-41B1-B5D0-80D69C8A73D3}"/>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Unified API input + output limit</a:t>
            </a:r>
          </a:p>
        </p:txBody>
      </p:sp>
      <p:sp>
        <p:nvSpPr>
          <p:cNvPr id="9" name="">
            <a:extLst xmlns:a="http://schemas.openxmlformats.org/drawingml/2006/main">
              <a:ext uri="{FF2B5EF4-FFF2-40B4-BE49-F238E27FC236}">
                <a16:creationId xmlns:a16="http://schemas.microsoft.com/office/drawing/2014/main" id="{E0D2404F-9336-4763-AEF6-F66DAB6855A4}"/>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Google announcement | Availability and performance claims are not independently verified</a:t>
            </a:r>
          </a:p>
        </p:txBody>
      </p:sp>
      <p:sp>
        <p:nvSpPr>
          <p:cNvPr id="10" name="">
            <a:extLst xmlns:a="http://schemas.openxmlformats.org/drawingml/2006/main">
              <a:ext uri="{FF2B5EF4-FFF2-40B4-BE49-F238E27FC236}">
                <a16:creationId xmlns:a16="http://schemas.microsoft.com/office/drawing/2014/main" id="{04D5D533-6D64-4703-9940-8EE7D3016592}"/>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2/6</a:t>
            </a:r>
          </a:p>
        </p:txBody>
      </p:sp>
    </p:spTree>
    <p:extLst>
      <p:ext uri="{BB962C8B-B14F-4D97-AF65-F5344CB8AC3E}">
        <p14:creationId xmlns:p14="http://schemas.microsoft.com/office/powerpoint/2010/main" val="1311182515"/>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BF0359-2DD3-4FA1-B58C-E09116530DC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13D9A8E3-9D59-456A-AF1E-CF8211EF04BE}"/>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Downloadable weights</a:t>
            </a:r>
          </a:p>
        </p:txBody>
      </p:sp>
      <p:sp>
        <p:nvSpPr>
          <p:cNvPr id="3" name="">
            <a:extLst xmlns:a="http://schemas.openxmlformats.org/drawingml/2006/main">
              <a:ext uri="{FF2B5EF4-FFF2-40B4-BE49-F238E27FC236}">
                <a16:creationId xmlns:a16="http://schemas.microsoft.com/office/drawing/2014/main" id="{FD5292E9-F2E9-41DA-8706-78E02ADF62E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24B TOTAL</a:t>
            </a:r>
          </a:p>
        </p:txBody>
      </p:sp>
      <p:sp>
        <p:nvSpPr>
          <p:cNvPr id="4" name="">
            <a:extLst xmlns:a="http://schemas.openxmlformats.org/drawingml/2006/main">
              <a:ext uri="{FF2B5EF4-FFF2-40B4-BE49-F238E27FC236}">
                <a16:creationId xmlns:a16="http://schemas.microsoft.com/office/drawing/2014/main" id="{8C11A7D6-73AF-40B4-B582-67E0E83D7189}"/>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Model parameters</a:t>
            </a:r>
          </a:p>
        </p:txBody>
      </p:sp>
      <p:sp>
        <p:nvSpPr>
          <p:cNvPr id="5" name="">
            <a:extLst xmlns:a="http://schemas.openxmlformats.org/drawingml/2006/main">
              <a:ext uri="{FF2B5EF4-FFF2-40B4-BE49-F238E27FC236}">
                <a16:creationId xmlns:a16="http://schemas.microsoft.com/office/drawing/2014/main" id="{B4BDBE80-5EB5-43EA-8EC8-2F80C8F8ED30}"/>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2B ACTIVE</a:t>
            </a:r>
          </a:p>
        </p:txBody>
      </p:sp>
      <p:sp>
        <p:nvSpPr>
          <p:cNvPr id="6" name="">
            <a:extLst xmlns:a="http://schemas.openxmlformats.org/drawingml/2006/main">
              <a:ext uri="{FF2B5EF4-FFF2-40B4-BE49-F238E27FC236}">
                <a16:creationId xmlns:a16="http://schemas.microsoft.com/office/drawing/2014/main" id="{32F14B17-E493-40E8-A8F6-BC25CC5A089A}"/>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Per token, per Liquid AI</a:t>
            </a:r>
          </a:p>
        </p:txBody>
      </p:sp>
      <p:sp>
        <p:nvSpPr>
          <p:cNvPr id="7" name="">
            <a:extLst xmlns:a="http://schemas.openxmlformats.org/drawingml/2006/main">
              <a:ext uri="{FF2B5EF4-FFF2-40B4-BE49-F238E27FC236}">
                <a16:creationId xmlns:a16="http://schemas.microsoft.com/office/drawing/2014/main" id="{DE289C82-95E1-4B72-9803-5B434D735D17}"/>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OPEN WEIGHTS</a:t>
            </a:r>
          </a:p>
        </p:txBody>
      </p:sp>
      <p:sp>
        <p:nvSpPr>
          <p:cNvPr id="8" name="">
            <a:extLst xmlns:a="http://schemas.openxmlformats.org/drawingml/2006/main">
              <a:ext uri="{FF2B5EF4-FFF2-40B4-BE49-F238E27FC236}">
                <a16:creationId xmlns:a16="http://schemas.microsoft.com/office/drawing/2014/main" id="{9D93F551-EF77-42FA-B64B-7E6A67349953}"/>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Local operation needs hardware and setup</a:t>
            </a:r>
          </a:p>
        </p:txBody>
      </p:sp>
      <p:sp>
        <p:nvSpPr>
          <p:cNvPr id="9" name="">
            <a:extLst xmlns:a="http://schemas.openxmlformats.org/drawingml/2006/main">
              <a:ext uri="{FF2B5EF4-FFF2-40B4-BE49-F238E27FC236}">
                <a16:creationId xmlns:a16="http://schemas.microsoft.com/office/drawing/2014/main" id="{0841650D-006C-47A7-A7D0-9D77B3051734}"/>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Liquid AI | Open weights alone do not establish a fully open-source system</a:t>
            </a:r>
          </a:p>
        </p:txBody>
      </p:sp>
      <p:sp>
        <p:nvSpPr>
          <p:cNvPr id="10" name="">
            <a:extLst xmlns:a="http://schemas.openxmlformats.org/drawingml/2006/main">
              <a:ext uri="{FF2B5EF4-FFF2-40B4-BE49-F238E27FC236}">
                <a16:creationId xmlns:a16="http://schemas.microsoft.com/office/drawing/2014/main" id="{DF57D3B5-E55B-48E6-84AD-352C6A715FE0}"/>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3/6</a:t>
            </a:r>
          </a:p>
        </p:txBody>
      </p:sp>
    </p:spTree>
    <p:extLst>
      <p:ext uri="{BB962C8B-B14F-4D97-AF65-F5344CB8AC3E}">
        <p14:creationId xmlns:p14="http://schemas.microsoft.com/office/powerpoint/2010/main" val="2065626118"/>
      </p:ext>
    </p:extLst>
  </p:cSld>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211FB5-5655-4B45-9341-6286CFE3587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A00A5C2D-04A7-4698-B78E-4021161E65F0}"/>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Demo access and product limits</a:t>
            </a:r>
          </a:p>
        </p:txBody>
      </p:sp>
      <p:sp>
        <p:nvSpPr>
          <p:cNvPr id="3" name="">
            <a:extLst xmlns:a="http://schemas.openxmlformats.org/drawingml/2006/main">
              <a:ext uri="{FF2B5EF4-FFF2-40B4-BE49-F238E27FC236}">
                <a16:creationId xmlns:a16="http://schemas.microsoft.com/office/drawing/2014/main" id="{942BC643-EA72-49E9-A54D-ACB58E111941}"/>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FALCON-ASR</a:t>
            </a:r>
          </a:p>
        </p:txBody>
      </p:sp>
      <p:sp>
        <p:nvSpPr>
          <p:cNvPr id="4" name="">
            <a:extLst xmlns:a="http://schemas.openxmlformats.org/drawingml/2006/main">
              <a:ext uri="{FF2B5EF4-FFF2-40B4-BE49-F238E27FC236}">
                <a16:creationId xmlns:a16="http://schemas.microsoft.com/office/drawing/2014/main" id="{11764A8C-839F-4EF2-8BF9-220803AC749B}"/>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Demo available</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API and native apps planned</a:t>
            </a:r>
          </a:p>
        </p:txBody>
      </p:sp>
      <p:sp>
        <p:nvSpPr>
          <p:cNvPr id="5" name="">
            <a:extLst xmlns:a="http://schemas.openxmlformats.org/drawingml/2006/main">
              <a:ext uri="{FF2B5EF4-FFF2-40B4-BE49-F238E27FC236}">
                <a16:creationId xmlns:a16="http://schemas.microsoft.com/office/drawing/2014/main" id="{71F8B6A5-15DF-4856-BE72-A893B1AADD64}"/>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PLAYGROUND</a:t>
            </a:r>
          </a:p>
        </p:txBody>
      </p:sp>
      <p:sp>
        <p:nvSpPr>
          <p:cNvPr id="6" name="">
            <a:extLst xmlns:a="http://schemas.openxmlformats.org/drawingml/2006/main">
              <a:ext uri="{FF2B5EF4-FFF2-40B4-BE49-F238E27FC236}">
                <a16:creationId xmlns:a16="http://schemas.microsoft.com/office/drawing/2014/main" id="{64D2BADF-2B69-4DC7-9024-42AA002FC6A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Experimental browser games</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Initial U.S. audience, age 18+</a:t>
            </a:r>
          </a:p>
        </p:txBody>
      </p:sp>
      <p:sp>
        <p:nvSpPr>
          <p:cNvPr id="7" name="">
            <a:extLst xmlns:a="http://schemas.openxmlformats.org/drawingml/2006/main">
              <a:ext uri="{FF2B5EF4-FFF2-40B4-BE49-F238E27FC236}">
                <a16:creationId xmlns:a16="http://schemas.microsoft.com/office/drawing/2014/main" id="{C550F189-1E18-4AB0-99D2-70C348101CC8}"/>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CREATION ACCESS</a:t>
            </a:r>
          </a:p>
        </p:txBody>
      </p:sp>
      <p:sp>
        <p:nvSpPr>
          <p:cNvPr id="8" name="">
            <a:extLst xmlns:a="http://schemas.openxmlformats.org/drawingml/2006/main">
              <a:ext uri="{FF2B5EF4-FFF2-40B4-BE49-F238E27FC236}">
                <a16:creationId xmlns:a16="http://schemas.microsoft.com/office/drawing/2014/main" id="{E30709F5-7B8B-4313-8A1A-ECC824592AA2}"/>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Rollout by subscription tier</a:t>
            </a:r>
          </a:p>
        </p:txBody>
      </p:sp>
      <p:sp>
        <p:nvSpPr>
          <p:cNvPr id="9" name="">
            <a:extLst xmlns:a="http://schemas.openxmlformats.org/drawingml/2006/main">
              <a:ext uri="{FF2B5EF4-FFF2-40B4-BE49-F238E27FC236}">
                <a16:creationId xmlns:a16="http://schemas.microsoft.com/office/drawing/2014/main" id="{162B89C7-001D-4041-B1A4-B37F777B41F1}"/>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TII · Google | Company descriptions; quality and lasting demand unverified</a:t>
            </a:r>
          </a:p>
        </p:txBody>
      </p:sp>
      <p:sp>
        <p:nvSpPr>
          <p:cNvPr id="10" name="">
            <a:extLst xmlns:a="http://schemas.openxmlformats.org/drawingml/2006/main">
              <a:ext uri="{FF2B5EF4-FFF2-40B4-BE49-F238E27FC236}">
                <a16:creationId xmlns:a16="http://schemas.microsoft.com/office/drawing/2014/main" id="{4C21FDCA-CD01-436C-98AC-AEE530FBE52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4/6</a:t>
            </a:r>
          </a:p>
        </p:txBody>
      </p:sp>
    </p:spTree>
    <p:extLst>
      <p:ext uri="{BB962C8B-B14F-4D97-AF65-F5344CB8AC3E}">
        <p14:creationId xmlns:p14="http://schemas.microsoft.com/office/powerpoint/2010/main" val="24490600"/>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A94EEC-6A34-423C-A3C1-E1EAD8A520F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3AE39024-680A-4514-A252-1E3F8DC53BD2}"/>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A creator’s limited test</a:t>
            </a:r>
          </a:p>
        </p:txBody>
      </p:sp>
      <p:sp>
        <p:nvSpPr>
          <p:cNvPr id="3" name="">
            <a:extLst xmlns:a="http://schemas.openxmlformats.org/drawingml/2006/main">
              <a:ext uri="{FF2B5EF4-FFF2-40B4-BE49-F238E27FC236}">
                <a16:creationId xmlns:a16="http://schemas.microsoft.com/office/drawing/2014/main" id="{907C08AB-3074-4968-8F36-19024FC9A8EE}"/>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REPORTED OUTPUT</a:t>
            </a:r>
          </a:p>
        </p:txBody>
      </p:sp>
      <p:sp>
        <p:nvSpPr>
          <p:cNvPr id="4" name="">
            <a:extLst xmlns:a="http://schemas.openxmlformats.org/drawingml/2006/main">
              <a:ext uri="{FF2B5EF4-FFF2-40B4-BE49-F238E27FC236}">
                <a16:creationId xmlns:a16="http://schemas.microsoft.com/office/drawing/2014/main" id="{6CB23B0B-179A-4256-9915-0DFB6DBE787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 3D bust made and printed</a:t>
            </a:r>
          </a:p>
        </p:txBody>
      </p:sp>
      <p:sp>
        <p:nvSpPr>
          <p:cNvPr id="5" name="">
            <a:extLst xmlns:a="http://schemas.openxmlformats.org/drawingml/2006/main">
              <a:ext uri="{FF2B5EF4-FFF2-40B4-BE49-F238E27FC236}">
                <a16:creationId xmlns:a16="http://schemas.microsoft.com/office/drawing/2014/main" id="{8B93FEF3-2538-4601-8EFC-2AFB42CF72A6}"/>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REPORTED FRICTION</a:t>
            </a:r>
          </a:p>
        </p:txBody>
      </p:sp>
      <p:sp>
        <p:nvSpPr>
          <p:cNvPr id="6" name="">
            <a:extLst xmlns:a="http://schemas.openxmlformats.org/drawingml/2006/main">
              <a:ext uri="{FF2B5EF4-FFF2-40B4-BE49-F238E27FC236}">
                <a16:creationId xmlns:a16="http://schemas.microsoft.com/office/drawing/2014/main" id="{553B4693-1A7B-46D5-A07E-3B106DDDDCCD}"/>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Task feature stalled in two tests</a:t>
            </a:r>
          </a:p>
        </p:txBody>
      </p:sp>
      <p:sp>
        <p:nvSpPr>
          <p:cNvPr id="7" name="">
            <a:extLst xmlns:a="http://schemas.openxmlformats.org/drawingml/2006/main">
              <a:ext uri="{FF2B5EF4-FFF2-40B4-BE49-F238E27FC236}">
                <a16:creationId xmlns:a16="http://schemas.microsoft.com/office/drawing/2014/main" id="{5B5EB88B-E87B-4370-9D14-13E706B91EA7}"/>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DISCLOSED CONTEXT</a:t>
            </a:r>
          </a:p>
        </p:txBody>
      </p:sp>
      <p:sp>
        <p:nvSpPr>
          <p:cNvPr id="8" name="">
            <a:extLst xmlns:a="http://schemas.openxmlformats.org/drawingml/2006/main">
              <a:ext uri="{FF2B5EF4-FFF2-40B4-BE49-F238E27FC236}">
                <a16:creationId xmlns:a16="http://schemas.microsoft.com/office/drawing/2014/main" id="{CA9BEA21-AE5C-4B55-B218-A9A70420F90F}"/>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Early access and a Google briefing</a:t>
            </a:r>
          </a:p>
        </p:txBody>
      </p:sp>
      <p:sp>
        <p:nvSpPr>
          <p:cNvPr id="9" name="">
            <a:extLst xmlns:a="http://schemas.openxmlformats.org/drawingml/2006/main">
              <a:ext uri="{FF2B5EF4-FFF2-40B4-BE49-F238E27FC236}">
                <a16:creationId xmlns:a16="http://schemas.microsoft.com/office/drawing/2014/main" id="{505C21C8-41C6-4154-8F5E-C12F605244A6}"/>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Matt Wolfe | Illustrative labels, not screenshots | Not a controlled evaluation</a:t>
            </a:r>
          </a:p>
        </p:txBody>
      </p:sp>
      <p:sp>
        <p:nvSpPr>
          <p:cNvPr id="10" name="">
            <a:extLst xmlns:a="http://schemas.openxmlformats.org/drawingml/2006/main">
              <a:ext uri="{FF2B5EF4-FFF2-40B4-BE49-F238E27FC236}">
                <a16:creationId xmlns:a16="http://schemas.microsoft.com/office/drawing/2014/main" id="{E2E13031-37D0-48B9-A09B-EA0F99F1214F}"/>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5/6</a:t>
            </a:r>
          </a:p>
        </p:txBody>
      </p:sp>
    </p:spTree>
    <p:extLst>
      <p:ext uri="{BB962C8B-B14F-4D97-AF65-F5344CB8AC3E}">
        <p14:creationId xmlns:p14="http://schemas.microsoft.com/office/powerpoint/2010/main" val="564291511"/>
      </p:ext>
    </p:extLst>
  </p:cSld>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B1B943-BA9D-425F-9638-4B112FF9603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0C8E101A-AD92-46D9-96C0-4E22AD9478B1}"/>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Which route can you use now?</a:t>
            </a:r>
          </a:p>
        </p:txBody>
      </p:sp>
      <p:sp>
        <p:nvSpPr>
          <p:cNvPr id="3" name="">
            <a:extLst xmlns:a="http://schemas.openxmlformats.org/drawingml/2006/main">
              <a:ext uri="{FF2B5EF4-FFF2-40B4-BE49-F238E27FC236}">
                <a16:creationId xmlns:a16="http://schemas.microsoft.com/office/drawing/2014/main" id="{8941BCE4-84AF-4605-A4F9-E194262EE46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HOSTED</a:t>
            </a:r>
          </a:p>
        </p:txBody>
      </p:sp>
      <p:sp>
        <p:nvSpPr>
          <p:cNvPr id="4" name="">
            <a:extLst xmlns:a="http://schemas.openxmlformats.org/drawingml/2006/main">
              <a:ext uri="{FF2B5EF4-FFF2-40B4-BE49-F238E27FC236}">
                <a16:creationId xmlns:a16="http://schemas.microsoft.com/office/drawing/2014/main" id="{C0D651C4-B8E1-4C9E-8DC7-6772A303313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Check account and channel</a:t>
            </a:r>
          </a:p>
        </p:txBody>
      </p:sp>
      <p:sp>
        <p:nvSpPr>
          <p:cNvPr id="5" name="">
            <a:extLst xmlns:a="http://schemas.openxmlformats.org/drawingml/2006/main">
              <a:ext uri="{FF2B5EF4-FFF2-40B4-BE49-F238E27FC236}">
                <a16:creationId xmlns:a16="http://schemas.microsoft.com/office/drawing/2014/main" id="{C2597D65-C797-405B-9EEB-BCA948977290}"/>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DOWNLOADABLE</a:t>
            </a:r>
          </a:p>
        </p:txBody>
      </p:sp>
      <p:sp>
        <p:nvSpPr>
          <p:cNvPr id="6" name="">
            <a:extLst xmlns:a="http://schemas.openxmlformats.org/drawingml/2006/main">
              <a:ext uri="{FF2B5EF4-FFF2-40B4-BE49-F238E27FC236}">
                <a16:creationId xmlns:a16="http://schemas.microsoft.com/office/drawing/2014/main" id="{3BD53717-8E41-47D9-8C4D-0E58C4E2A22E}"/>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Check hardware and setup</a:t>
            </a:r>
          </a:p>
        </p:txBody>
      </p:sp>
      <p:sp>
        <p:nvSpPr>
          <p:cNvPr id="7" name="">
            <a:extLst xmlns:a="http://schemas.openxmlformats.org/drawingml/2006/main">
              <a:ext uri="{FF2B5EF4-FFF2-40B4-BE49-F238E27FC236}">
                <a16:creationId xmlns:a16="http://schemas.microsoft.com/office/drawing/2014/main" id="{60AC9DB4-3EB5-4D2A-A451-C0EAF610DA1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DEMO / EXPERIMENT</a:t>
            </a:r>
          </a:p>
        </p:txBody>
      </p:sp>
      <p:sp>
        <p:nvSpPr>
          <p:cNvPr id="8" name="">
            <a:extLst xmlns:a="http://schemas.openxmlformats.org/drawingml/2006/main">
              <a:ext uri="{FF2B5EF4-FFF2-40B4-BE49-F238E27FC236}">
                <a16:creationId xmlns:a16="http://schemas.microsoft.com/office/drawing/2014/main" id="{C8B8CE68-EC6E-40BA-85B4-4F36356444B1}"/>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Check current limits and planned access</a:t>
            </a:r>
          </a:p>
        </p:txBody>
      </p:sp>
      <p:sp>
        <p:nvSpPr>
          <p:cNvPr id="9" name="">
            <a:extLst xmlns:a="http://schemas.openxmlformats.org/drawingml/2006/main">
              <a:ext uri="{FF2B5EF4-FFF2-40B4-BE49-F238E27FC236}">
                <a16:creationId xmlns:a16="http://schemas.microsoft.com/office/drawing/2014/main" id="{9AD6A01B-507E-4319-B7B1-71D03BCC295E}"/>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Google · Liquid AI · TII · Matt Wolfe | Selected examples do not rank the market</a:t>
            </a:r>
          </a:p>
        </p:txBody>
      </p:sp>
      <p:sp>
        <p:nvSpPr>
          <p:cNvPr id="10" name="">
            <a:extLst xmlns:a="http://schemas.openxmlformats.org/drawingml/2006/main">
              <a:ext uri="{FF2B5EF4-FFF2-40B4-BE49-F238E27FC236}">
                <a16:creationId xmlns:a16="http://schemas.microsoft.com/office/drawing/2014/main" id="{B1D9F121-C21C-4462-9184-63F60115BA5B}"/>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6/6</a:t>
            </a:r>
          </a:p>
        </p:txBody>
      </p:sp>
    </p:spTree>
    <p:extLst>
      <p:ext uri="{BB962C8B-B14F-4D97-AF65-F5344CB8AC3E}">
        <p14:creationId xmlns:p14="http://schemas.microsoft.com/office/powerpoint/2010/main" val="13406722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2026-10-15T02:56:23.7070000Z</dcterms:created>
  <dcterms:modified xsi:type="dcterms:W3CDTF">2026-10-15T02:56:23.7070000Z</dcterms:modified>
</coreProperties>
</file>