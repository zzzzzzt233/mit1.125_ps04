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4dd79ee9184b58" /><Relationship Type="http://schemas.openxmlformats.org/officeDocument/2006/relationships/extended-properties" Target="/docProps/app.xml" Id="R786f419a9800464c" /><Relationship Type="http://schemas.openxmlformats.org/officeDocument/2006/relationships/officeDocument" Target="/ppt/presentation.xml" Id="Rb8fb78ef29b14680" /></Relationships>
</file>

<file path=ppt/presentation.xml><?xml version="1.0" encoding="utf-8"?>
<p:presentation xmlns:p="http://schemas.openxmlformats.org/presentationml/2006/main">
  <p:sldMasterIdLst>
    <p:sldMasterId xmlns:r="http://schemas.openxmlformats.org/officeDocument/2006/relationships" id="2147483648" r:id="Ree407a1ebf6b4884"/>
  </p:sldMasterIdLst>
  <p:notesMasterIdLst>
    <p:notesMasterId xmlns:r="http://schemas.openxmlformats.org/officeDocument/2006/relationships" r:id="Re117e06785cf43d4"/>
  </p:notesMasterIdLst>
  <p:sldIdLst>
    <p:sldId xmlns:r="http://schemas.openxmlformats.org/officeDocument/2006/relationships" id="256" r:id="R2c42b009a755479c"/>
    <p:sldId xmlns:r="http://schemas.openxmlformats.org/officeDocument/2006/relationships" id="257" r:id="R7b596394ad4e4c71"/>
    <p:sldId xmlns:r="http://schemas.openxmlformats.org/officeDocument/2006/relationships" id="258" r:id="R3ca113c3f51c4c07"/>
    <p:sldId xmlns:r="http://schemas.openxmlformats.org/officeDocument/2006/relationships" id="259" r:id="Rdf64333718eb4da0"/>
    <p:sldId xmlns:r="http://schemas.openxmlformats.org/officeDocument/2006/relationships" id="260" r:id="R20aa6745ffdd4731"/>
    <p:sldId xmlns:r="http://schemas.openxmlformats.org/officeDocument/2006/relationships" id="261" r:id="Rf8ff5fd23f3541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a597a3f866468f" /><Relationship Type="http://schemas.openxmlformats.org/officeDocument/2006/relationships/slideMaster" Target="/ppt/slideMasters/slideMaster1.xml" Id="Ree407a1ebf6b4884" /><Relationship Type="http://schemas.openxmlformats.org/officeDocument/2006/relationships/notesMaster" Target="/ppt/notesMasters/notesMaster1.xml" Id="Re117e06785cf43d4" /><Relationship Type="http://schemas.openxmlformats.org/officeDocument/2006/relationships/presProps" Target="/ppt/presProps.xml" Id="Rdce9186456a8421a" /><Relationship Type="http://schemas.openxmlformats.org/officeDocument/2006/relationships/tableStyles" Target="/ppt/tableStyles.xml" Id="R19d68b20552b41a5" /><Relationship Type="http://schemas.openxmlformats.org/officeDocument/2006/relationships/slide" Target="/ppt/slides/slide1.xml" Id="R2c42b009a755479c" /><Relationship Type="http://schemas.openxmlformats.org/officeDocument/2006/relationships/slide" Target="/ppt/slides/slide2.xml" Id="R7b596394ad4e4c71" /><Relationship Type="http://schemas.openxmlformats.org/officeDocument/2006/relationships/slide" Target="/ppt/slides/slide3.xml" Id="R3ca113c3f51c4c07" /><Relationship Type="http://schemas.openxmlformats.org/officeDocument/2006/relationships/slide" Target="/ppt/slides/slide4.xml" Id="Rdf64333718eb4da0" /><Relationship Type="http://schemas.openxmlformats.org/officeDocument/2006/relationships/slide" Target="/ppt/slides/slide5.xml" Id="R20aa6745ffdd4731" /><Relationship Type="http://schemas.openxmlformats.org/officeDocument/2006/relationships/slide" Target="/ppt/slides/slide6.xml" Id="Rf8ff5fd23f3541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eacfeec72d4d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4348840fa44b13" /><Relationship Type="http://schemas.openxmlformats.org/officeDocument/2006/relationships/notesMaster" Target="/ppt/notesMasters/notesMaster1.xml" Id="R8bdb0d5f80594c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94e86f481a47a0" /><Relationship Type="http://schemas.openxmlformats.org/officeDocument/2006/relationships/notesMaster" Target="/ppt/notesMasters/notesMaster1.xml" Id="R3f869b25f27a48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47d2468b374745" /><Relationship Type="http://schemas.openxmlformats.org/officeDocument/2006/relationships/notesMaster" Target="/ppt/notesMasters/notesMaster1.xml" Id="R761e133958b447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5f7e5e7a314425" /><Relationship Type="http://schemas.openxmlformats.org/officeDocument/2006/relationships/notesMaster" Target="/ppt/notesMasters/notesMaster1.xml" Id="R3716a7df970f45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9188a2f68c41b3" /><Relationship Type="http://schemas.openxmlformats.org/officeDocument/2006/relationships/notesMaster" Target="/ppt/notesMasters/notesMaster1.xml" Id="Rfcea48d394124e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f8fa8f92fb4c20" /><Relationship Type="http://schemas.openxmlformats.org/officeDocument/2006/relationships/notesMaster" Target="/ppt/notesMasters/notesMaster1.xml" Id="R48c9ef0384034a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can work and still leave the hardest problem unsolved. A software team may need a better way to review changes. A scientist may need different data or expertise. A robot has to act through real hardware. Recent reports and interviews suggest a useful question: once a model is part of the picture, what else is limiting the work? These examples connect around practical constraints, not because they independently verify one another, and they do not establish a universal rule about the whole AI field.</a:t>
            </a:r>
          </a:p>
          <a:p xmlns:a="http://schemas.openxmlformats.org/drawingml/2006/main">
            <a:r>
              <a:t/>
            </a:r>
          </a:p>
          <a:p xmlns:a="http://schemas.openxmlformats.org/drawingml/2006/main">
            <a:r>
              <a:t>SOURCE REFERENCES (not narration):</a:t>
            </a:r>
          </a:p>
          <a:p xmlns:a="http://schemas.openxmlformats.org/drawingml/2006/main">
            <a:r>
              <a:t>https://simonwillison.net/2026/Oct/13/redesigning-source-control-at-anthropic/</a:t>
            </a:r>
          </a:p>
          <a:p xmlns:a="http://schemas.openxmlformats.org/drawingml/2006/main">
            <a:r>
              <a:t>https://huggingface.co/blog/building-with-ml-intern</a:t>
            </a:r>
          </a:p>
          <a:p xmlns:a="http://schemas.openxmlformats.org/drawingml/2006/main">
            <a:r>
              <a:t>https://www.latent.space/p/biohub-deepmind</a:t>
            </a:r>
          </a:p>
          <a:p xmlns:a="http://schemas.openxmlformats.org/drawingml/2006/main">
            <a:r>
              <a:t>https://www.latent.space/p/dyna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Simon Willison reports Anthropic’s figure of about 2,500 code changes merged per day in May 2026, rising to more than 30,000 per day by September. He explicitly calls his proposed explanation—that a new class of models was a key factor—a guess. Those figures are reported from the company’s account; they do not establish what caused the increase. Willison also reports that Anthropic built Scion for source control and Antique for code review, and that a seven-person team completed a migration from Git in five months. The account suggests infrastructure can become a design problem as workflows change.</a:t>
            </a:r>
          </a:p>
          <a:p xmlns:a="http://schemas.openxmlformats.org/drawingml/2006/main">
            <a:r>
              <a:t/>
            </a:r>
          </a:p>
          <a:p xmlns:a="http://schemas.openxmlformats.org/drawingml/2006/main">
            <a:r>
              <a:t>SOURCE REFERENCES (not narration):</a:t>
            </a:r>
          </a:p>
          <a:p xmlns:a="http://schemas.openxmlformats.org/drawingml/2006/main">
            <a:r>
              <a:t>https://simonwillison.net/2026/Oct/13/redesigning-source-control-at-anthropic/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control tracks software changes so teams can collaborate and return to earlier versions; code review is the checking of changes before they are accepted. A separate Hugging Face post describes a smaller-scale discipline for model experiments. Its author says the ML Intern workflow asks for a budget before paid jobs, recommends a baseline before training and runs a small test before a larger job. A baseline gives you a starting point for comparison; a smoke test checks that a process works at all. These are useful practices to consider, but the project results and costs are self-reported, not independent validation.</a:t>
            </a:r>
          </a:p>
          <a:p xmlns:a="http://schemas.openxmlformats.org/drawingml/2006/main">
            <a:r>
              <a:t/>
            </a:r>
          </a:p>
          <a:p xmlns:a="http://schemas.openxmlformats.org/drawingml/2006/main">
            <a:r>
              <a:t>SOURCE REFERENCES (not narration):</a:t>
            </a:r>
          </a:p>
          <a:p xmlns:a="http://schemas.openxmlformats.org/drawingml/2006/main">
            <a:r>
              <a:t>https://simonwillison.net/2026/Oct/13/redesigning-source-control-at-anthropic/</a:t>
            </a:r>
          </a:p>
          <a:p xmlns:a="http://schemas.openxmlformats.org/drawingml/2006/main">
            <a:r>
              <a:t>https://huggingface.co/blog/building-with-ml-intern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Latent Space interview, DeepMind’s Pushmeet Kohli argues that scientific problems should determine whether a team prioritizes modeling, data collection or expertise. His point is not that one ingredient always matters most. It is that researchers should understand the problem before committing to a preferred approach. The interview discusses examples from biological research, but this is a practitioner’s perspective, not new experimental evidence. It connects with the baseline-and-test advice in the ML Intern post only at a broad level: both encourage checking what is needed before investing more effort.</a:t>
            </a:r>
          </a:p>
          <a:p xmlns:a="http://schemas.openxmlformats.org/drawingml/2006/main">
            <a:r>
              <a:t/>
            </a:r>
          </a:p>
          <a:p xmlns:a="http://schemas.openxmlformats.org/drawingml/2006/main">
            <a:r>
              <a:t>SOURCE REFERENCES (not narration):</a:t>
            </a:r>
          </a:p>
          <a:p xmlns:a="http://schemas.openxmlformats.org/drawingml/2006/main">
            <a:r>
              <a:t>https://www.latent.space/p/biohub-deepmind</a:t>
            </a:r>
          </a:p>
          <a:p xmlns:a="http://schemas.openxmlformats.org/drawingml/2006/main">
            <a:r>
              <a:t>https://huggingface.co/blog/building-with-ml-intern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Physical robotics adds another set of constraints. Dyna Robotics co-founder Jason Ma says progress depends on data and hardware as well as models, and that competing strategies for gathering data and building systems are still too early to call. That is a company interview, not independent verification of deployment claims or a survey of robotics. A separate TechCrunch report describes a discrepancy: Flock’s CEO said its microphones detect only gunshots, while the company says the system can also detect events such as fireworks, sideshows and potential car crashes. Without a technical audit, the dispute does not establish what the system detects.</a:t>
            </a:r>
          </a:p>
          <a:p xmlns:a="http://schemas.openxmlformats.org/drawingml/2006/main">
            <a:r>
              <a:t/>
            </a:r>
          </a:p>
          <a:p xmlns:a="http://schemas.openxmlformats.org/drawingml/2006/main">
            <a:r>
              <a:t>SOURCE REFERENCES (not narration):</a:t>
            </a:r>
          </a:p>
          <a:p xmlns:a="http://schemas.openxmlformats.org/drawingml/2006/main">
            <a:r>
              <a:t>https://www.latent.space/p/dyna</a:t>
            </a:r>
          </a:p>
          <a:p xmlns:a="http://schemas.openxmlformats.org/drawingml/2006/main">
            <a:r>
              <a:t>https://techcrunch.com/2026/10/14/flock-ceo-says-its-microphones-detect-just-gunshots-its-website-says-different/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Taken together, these sources suggest—without proving a general trend—that practical AI work can shift its bottleneck from model performance to infrastructure, evaluation, domain knowledge or hardware. The examples come from selected company accounts and interviews, not a representative survey. The proposed cause of Anthropic’s reported increase is a guess; the ML Intern results are self-reported; the science discussion is an interview; and Dyna’s comments come from its co-founder. The Flock report describes conflicting statements, not an audit. So the careful question is not just, “How capable is the model?” It is: what surrounding constraint is limiting this system, and what independent evidence would show it has actually been addressed?</a:t>
            </a:r>
          </a:p>
          <a:p xmlns:a="http://schemas.openxmlformats.org/drawingml/2006/main">
            <a:r>
              <a:t/>
            </a:r>
          </a:p>
          <a:p xmlns:a="http://schemas.openxmlformats.org/drawingml/2006/main">
            <a:r>
              <a:t>SOURCE REFERENCES (not narration):</a:t>
            </a:r>
          </a:p>
          <a:p xmlns:a="http://schemas.openxmlformats.org/drawingml/2006/main">
            <a:r>
              <a:t>https://simonwillison.net/2026/Oct/13/redesigning-source-control-at-anthropic/</a:t>
            </a:r>
          </a:p>
          <a:p xmlns:a="http://schemas.openxmlformats.org/drawingml/2006/main">
            <a:r>
              <a:t>https://huggingface.co/blog/building-with-ml-intern</a:t>
            </a:r>
          </a:p>
          <a:p xmlns:a="http://schemas.openxmlformats.org/drawingml/2006/main">
            <a:r>
              <a:t>https://www.latent.space/p/biohub-deepmind</a:t>
            </a:r>
          </a:p>
          <a:p xmlns:a="http://schemas.openxmlformats.org/drawingml/2006/main">
            <a:r>
              <a:t>https://www.latent.space/p/dyna</a:t>
            </a:r>
          </a:p>
          <a:p xmlns:a="http://schemas.openxmlformats.org/drawingml/2006/main">
            <a:r>
              <a:t>https://techcrunch.com/2026/10/14/flock-ceo-says-its-microphones-detect-just-gunshots-its-website-says-different/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e2949bc81541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b40915c34d45e6" /><Relationship Type="http://schemas.openxmlformats.org/officeDocument/2006/relationships/slideLayout" Target="/ppt/slideLayouts/slideLayout1.xml" Id="R936d6e15f91941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6d6e15f91941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2b140500d84b46" /><Relationship Type="http://schemas.openxmlformats.org/officeDocument/2006/relationships/notesSlide" Target="/ppt/notesSlides/notesSlide1.xml" Id="R75b036aba4cc46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e27d4ef1cf4e24" /><Relationship Type="http://schemas.openxmlformats.org/officeDocument/2006/relationships/notesSlide" Target="/ppt/notesSlides/notesSlide2.xml" Id="R3f88faa31c3b4f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74c95e87554d46" /><Relationship Type="http://schemas.openxmlformats.org/officeDocument/2006/relationships/notesSlide" Target="/ppt/notesSlides/notesSlide3.xml" Id="Radca89944af649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d960e4afba4424" /><Relationship Type="http://schemas.openxmlformats.org/officeDocument/2006/relationships/notesSlide" Target="/ppt/notesSlides/notesSlide4.xml" Id="R6296ceb5060a41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98f8a98c1742e7" /><Relationship Type="http://schemas.openxmlformats.org/officeDocument/2006/relationships/notesSlide" Target="/ppt/notesSlides/notesSlide5.xml" Id="R27772c6416c943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3c0c127c4049db" /><Relationship Type="http://schemas.openxmlformats.org/officeDocument/2006/relationships/notesSlide" Target="/ppt/notesSlides/notesSlide6.xml" Id="Rb3e705fae677462f" /></Relationships>
</file>

<file path=ppt/slides/slide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A7B80C-3066-4F52-90BA-C6E144658AA4}"/>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899AF7A0-C12C-4120-BA86-AA5A655C6C27}"/>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The hard part after the model</a:t>
            </a:r>
          </a:p>
        </p:txBody>
      </p:sp>
      <p:sp>
        <p:nvSpPr>
          <p:cNvPr id="3" name="">
            <a:extLst xmlns:a="http://schemas.openxmlformats.org/drawingml/2006/main">
              <a:ext uri="{FF2B5EF4-FFF2-40B4-BE49-F238E27FC236}">
                <a16:creationId xmlns:a16="http://schemas.microsoft.com/office/drawing/2014/main" id="{2652A951-5A95-478E-BA55-721EB7F8229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SOFTWARE</a:t>
            </a:r>
          </a:p>
        </p:txBody>
      </p:sp>
      <p:sp>
        <p:nvSpPr>
          <p:cNvPr id="4" name="">
            <a:extLst xmlns:a="http://schemas.openxmlformats.org/drawingml/2006/main">
              <a:ext uri="{FF2B5EF4-FFF2-40B4-BE49-F238E27FC236}">
                <a16:creationId xmlns:a16="http://schemas.microsoft.com/office/drawing/2014/main" id="{108B8E0C-BECE-4D20-9F52-4A15FAB39BB7}"/>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Review and change tracking</a:t>
            </a:r>
          </a:p>
        </p:txBody>
      </p:sp>
      <p:sp>
        <p:nvSpPr>
          <p:cNvPr id="5" name="">
            <a:extLst xmlns:a="http://schemas.openxmlformats.org/drawingml/2006/main">
              <a:ext uri="{FF2B5EF4-FFF2-40B4-BE49-F238E27FC236}">
                <a16:creationId xmlns:a16="http://schemas.microsoft.com/office/drawing/2014/main" id="{79EAC248-50ED-4CBF-9455-E47DB9E22EAA}"/>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SCIENTIFIC WORK</a:t>
            </a:r>
          </a:p>
        </p:txBody>
      </p:sp>
      <p:sp>
        <p:nvSpPr>
          <p:cNvPr id="6" name="">
            <a:extLst xmlns:a="http://schemas.openxmlformats.org/drawingml/2006/main">
              <a:ext uri="{FF2B5EF4-FFF2-40B4-BE49-F238E27FC236}">
                <a16:creationId xmlns:a16="http://schemas.microsoft.com/office/drawing/2014/main" id="{476817BE-18E1-4561-85C4-7BF4A766B562}"/>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Data and domain expertise</a:t>
            </a:r>
          </a:p>
        </p:txBody>
      </p:sp>
      <p:sp>
        <p:nvSpPr>
          <p:cNvPr id="7" name="">
            <a:extLst xmlns:a="http://schemas.openxmlformats.org/drawingml/2006/main">
              <a:ext uri="{FF2B5EF4-FFF2-40B4-BE49-F238E27FC236}">
                <a16:creationId xmlns:a16="http://schemas.microsoft.com/office/drawing/2014/main" id="{61010162-1A0F-461B-A56F-3C2FA5792DBB}"/>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PHYSICAL SYSTEMS</a:t>
            </a:r>
          </a:p>
        </p:txBody>
      </p:sp>
      <p:sp>
        <p:nvSpPr>
          <p:cNvPr id="8" name="">
            <a:extLst xmlns:a="http://schemas.openxmlformats.org/drawingml/2006/main">
              <a:ext uri="{FF2B5EF4-FFF2-40B4-BE49-F238E27FC236}">
                <a16:creationId xmlns:a16="http://schemas.microsoft.com/office/drawing/2014/main" id="{41A6E333-27FD-4F03-BD90-4E22CB9D88AB}"/>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Hardware and real-world data</a:t>
            </a:r>
          </a:p>
        </p:txBody>
      </p:sp>
      <p:sp>
        <p:nvSpPr>
          <p:cNvPr id="9" name="">
            <a:extLst xmlns:a="http://schemas.openxmlformats.org/drawingml/2006/main">
              <a:ext uri="{FF2B5EF4-FFF2-40B4-BE49-F238E27FC236}">
                <a16:creationId xmlns:a16="http://schemas.microsoft.com/office/drawing/2014/main" id="{85691880-BEA3-40A3-8559-084C6CD926FE}"/>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Sources: Willison · ML Intern · Latent Space | Illustrative connections, not a field-wide finding</a:t>
            </a:r>
          </a:p>
        </p:txBody>
      </p:sp>
      <p:sp>
        <p:nvSpPr>
          <p:cNvPr id="10" name="">
            <a:extLst xmlns:a="http://schemas.openxmlformats.org/drawingml/2006/main">
              <a:ext uri="{FF2B5EF4-FFF2-40B4-BE49-F238E27FC236}">
                <a16:creationId xmlns:a16="http://schemas.microsoft.com/office/drawing/2014/main" id="{04B8DD6D-A8DF-400D-8721-B58356631797}"/>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1/6</a:t>
            </a:r>
          </a:p>
        </p:txBody>
      </p:sp>
    </p:spTree>
    <p:extLst>
      <p:ext uri="{BB962C8B-B14F-4D97-AF65-F5344CB8AC3E}">
        <p14:creationId xmlns:p14="http://schemas.microsoft.com/office/powerpoint/2010/main" val="499260358"/>
      </p:ext>
    </p:extLst>
  </p:cSld>
</p:sld>
</file>

<file path=ppt/slides/slide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9F1AD4-C6E0-46CD-BB09-864482A7A08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F3981AD3-90D8-431B-9C92-F2B8715D1833}"/>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Reported change in code volume</a:t>
            </a:r>
          </a:p>
        </p:txBody>
      </p:sp>
      <p:sp>
        <p:nvSpPr>
          <p:cNvPr id="3" name="">
            <a:extLst xmlns:a="http://schemas.openxmlformats.org/drawingml/2006/main">
              <a:ext uri="{FF2B5EF4-FFF2-40B4-BE49-F238E27FC236}">
                <a16:creationId xmlns:a16="http://schemas.microsoft.com/office/drawing/2014/main" id="{D7E616BC-8E35-4252-8D60-AA2B78C63044}"/>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MAY 2026</a:t>
            </a:r>
          </a:p>
        </p:txBody>
      </p:sp>
      <p:sp>
        <p:nvSpPr>
          <p:cNvPr id="4" name="">
            <a:extLst xmlns:a="http://schemas.openxmlformats.org/drawingml/2006/main">
              <a:ext uri="{FF2B5EF4-FFF2-40B4-BE49-F238E27FC236}">
                <a16:creationId xmlns:a16="http://schemas.microsoft.com/office/drawing/2014/main" id="{E6716418-9749-4A22-A19C-BA290EA54A11}"/>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About 2,500</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merged changes per day</a:t>
            </a:r>
          </a:p>
        </p:txBody>
      </p:sp>
      <p:sp>
        <p:nvSpPr>
          <p:cNvPr id="5" name="">
            <a:extLst xmlns:a="http://schemas.openxmlformats.org/drawingml/2006/main">
              <a:ext uri="{FF2B5EF4-FFF2-40B4-BE49-F238E27FC236}">
                <a16:creationId xmlns:a16="http://schemas.microsoft.com/office/drawing/2014/main" id="{54FFC41B-0A4C-4A9B-AB98-7457B73701CD}"/>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SEPTEMBER 2026</a:t>
            </a:r>
          </a:p>
        </p:txBody>
      </p:sp>
      <p:sp>
        <p:nvSpPr>
          <p:cNvPr id="6" name="">
            <a:extLst xmlns:a="http://schemas.openxmlformats.org/drawingml/2006/main">
              <a:ext uri="{FF2B5EF4-FFF2-40B4-BE49-F238E27FC236}">
                <a16:creationId xmlns:a16="http://schemas.microsoft.com/office/drawing/2014/main" id="{926A2D47-B568-41B4-9D70-83C83CC17902}"/>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More than 30,000</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merged changes per day</a:t>
            </a:r>
          </a:p>
        </p:txBody>
      </p:sp>
      <p:sp>
        <p:nvSpPr>
          <p:cNvPr id="7" name="">
            <a:extLst xmlns:a="http://schemas.openxmlformats.org/drawingml/2006/main">
              <a:ext uri="{FF2B5EF4-FFF2-40B4-BE49-F238E27FC236}">
                <a16:creationId xmlns:a16="http://schemas.microsoft.com/office/drawing/2014/main" id="{E0BF8323-608C-48D3-8AC6-9B04C5C2A23A}"/>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CAUSE</a:t>
            </a:r>
          </a:p>
        </p:txBody>
      </p:sp>
      <p:sp>
        <p:nvSpPr>
          <p:cNvPr id="8" name="">
            <a:extLst xmlns:a="http://schemas.openxmlformats.org/drawingml/2006/main">
              <a:ext uri="{FF2B5EF4-FFF2-40B4-BE49-F238E27FC236}">
                <a16:creationId xmlns:a16="http://schemas.microsoft.com/office/drawing/2014/main" id="{398503B7-6930-4E8B-B96D-369EB1714AD6}"/>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Willison calls his</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model explanation a guess</a:t>
            </a:r>
          </a:p>
        </p:txBody>
      </p:sp>
      <p:sp>
        <p:nvSpPr>
          <p:cNvPr id="9" name="">
            <a:extLst xmlns:a="http://schemas.openxmlformats.org/drawingml/2006/main">
              <a:ext uri="{FF2B5EF4-FFF2-40B4-BE49-F238E27FC236}">
                <a16:creationId xmlns:a16="http://schemas.microsoft.com/office/drawing/2014/main" id="{7E01059F-50F2-4059-BACE-BBC66224081B}"/>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Simon Willison reporting Anthropic figures | Scion and Antique are reported company systems</a:t>
            </a:r>
          </a:p>
        </p:txBody>
      </p:sp>
      <p:sp>
        <p:nvSpPr>
          <p:cNvPr id="10" name="">
            <a:extLst xmlns:a="http://schemas.openxmlformats.org/drawingml/2006/main">
              <a:ext uri="{FF2B5EF4-FFF2-40B4-BE49-F238E27FC236}">
                <a16:creationId xmlns:a16="http://schemas.microsoft.com/office/drawing/2014/main" id="{5FCC8BE3-1990-409A-ACF4-35464737DBAA}"/>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2/6</a:t>
            </a:r>
          </a:p>
        </p:txBody>
      </p:sp>
    </p:spTree>
    <p:extLst>
      <p:ext uri="{BB962C8B-B14F-4D97-AF65-F5344CB8AC3E}">
        <p14:creationId xmlns:p14="http://schemas.microsoft.com/office/powerpoint/2010/main" val="82003855"/>
      </p:ext>
    </p:extLst>
  </p:cSld>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923DA7-94AA-460C-BCCE-5E717CF3BDA8}"/>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4DE45218-6CE9-416F-816B-8A416ADC69FD}"/>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Controls around model experiments</a:t>
            </a:r>
          </a:p>
        </p:txBody>
      </p:sp>
      <p:sp>
        <p:nvSpPr>
          <p:cNvPr id="3" name="">
            <a:extLst xmlns:a="http://schemas.openxmlformats.org/drawingml/2006/main">
              <a:ext uri="{FF2B5EF4-FFF2-40B4-BE49-F238E27FC236}">
                <a16:creationId xmlns:a16="http://schemas.microsoft.com/office/drawing/2014/main" id="{19B02FDB-E16D-46AC-BB0B-77BC71428245}"/>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BEFORE A PAID JOB</a:t>
            </a:r>
          </a:p>
        </p:txBody>
      </p:sp>
      <p:sp>
        <p:nvSpPr>
          <p:cNvPr id="4" name="">
            <a:extLst xmlns:a="http://schemas.openxmlformats.org/drawingml/2006/main">
              <a:ext uri="{FF2B5EF4-FFF2-40B4-BE49-F238E27FC236}">
                <a16:creationId xmlns:a16="http://schemas.microsoft.com/office/drawing/2014/main" id="{61EEC1CF-8CE9-422B-8DC5-A1C3E7DF1394}"/>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Set a budget</a:t>
            </a:r>
          </a:p>
        </p:txBody>
      </p:sp>
      <p:sp>
        <p:nvSpPr>
          <p:cNvPr id="5" name="">
            <a:extLst xmlns:a="http://schemas.openxmlformats.org/drawingml/2006/main">
              <a:ext uri="{FF2B5EF4-FFF2-40B4-BE49-F238E27FC236}">
                <a16:creationId xmlns:a16="http://schemas.microsoft.com/office/drawing/2014/main" id="{FE944B83-F984-4E75-AE87-480265B8D679}"/>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BEFORE TRAINING</a:t>
            </a:r>
          </a:p>
        </p:txBody>
      </p:sp>
      <p:sp>
        <p:nvSpPr>
          <p:cNvPr id="6" name="">
            <a:extLst xmlns:a="http://schemas.openxmlformats.org/drawingml/2006/main">
              <a:ext uri="{FF2B5EF4-FFF2-40B4-BE49-F238E27FC236}">
                <a16:creationId xmlns:a16="http://schemas.microsoft.com/office/drawing/2014/main" id="{F0C1A4BC-66F8-4BEF-89A2-ECA3CAD79367}"/>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Record a baseline</a:t>
            </a:r>
          </a:p>
        </p:txBody>
      </p:sp>
      <p:sp>
        <p:nvSpPr>
          <p:cNvPr id="7" name="">
            <a:extLst xmlns:a="http://schemas.openxmlformats.org/drawingml/2006/main">
              <a:ext uri="{FF2B5EF4-FFF2-40B4-BE49-F238E27FC236}">
                <a16:creationId xmlns:a16="http://schemas.microsoft.com/office/drawing/2014/main" id="{F9525945-70EE-461A-AA78-18E5A5C9866E}"/>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BEFORE A LARGER RUN</a:t>
            </a:r>
          </a:p>
        </p:txBody>
      </p:sp>
      <p:sp>
        <p:nvSpPr>
          <p:cNvPr id="8" name="">
            <a:extLst xmlns:a="http://schemas.openxmlformats.org/drawingml/2006/main">
              <a:ext uri="{FF2B5EF4-FFF2-40B4-BE49-F238E27FC236}">
                <a16:creationId xmlns:a16="http://schemas.microsoft.com/office/drawing/2014/main" id="{457865B0-9EF6-407F-A45E-D2BFC65FFDFA}"/>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Run a small smoke test</a:t>
            </a:r>
          </a:p>
        </p:txBody>
      </p:sp>
      <p:sp>
        <p:nvSpPr>
          <p:cNvPr id="9" name="">
            <a:extLst xmlns:a="http://schemas.openxmlformats.org/drawingml/2006/main">
              <a:ext uri="{FF2B5EF4-FFF2-40B4-BE49-F238E27FC236}">
                <a16:creationId xmlns:a16="http://schemas.microsoft.com/office/drawing/2014/main" id="{C34872AD-2657-4A43-8E0C-C90D7B8DF599}"/>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Sources: ML Intern post · Willison | Reported practices and results are not independent validation</a:t>
            </a:r>
          </a:p>
        </p:txBody>
      </p:sp>
      <p:sp>
        <p:nvSpPr>
          <p:cNvPr id="10" name="">
            <a:extLst xmlns:a="http://schemas.openxmlformats.org/drawingml/2006/main">
              <a:ext uri="{FF2B5EF4-FFF2-40B4-BE49-F238E27FC236}">
                <a16:creationId xmlns:a16="http://schemas.microsoft.com/office/drawing/2014/main" id="{B987270D-FE6E-4752-8AC4-4136AA8BD7EB}"/>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3/6</a:t>
            </a:r>
          </a:p>
        </p:txBody>
      </p:sp>
    </p:spTree>
    <p:extLst>
      <p:ext uri="{BB962C8B-B14F-4D97-AF65-F5344CB8AC3E}">
        <p14:creationId xmlns:p14="http://schemas.microsoft.com/office/powerpoint/2010/main" val="575959670"/>
      </p:ext>
    </p:extLst>
  </p:cSld>
</p:sld>
</file>

<file path=ppt/slides/slide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0DCA7A-FDE1-4D4D-8D47-37BA879D7ACA}"/>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EDF2D5FB-9328-40EC-9B4D-E393E2FC69BB}"/>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Scientific work starts with the problem</a:t>
            </a:r>
          </a:p>
        </p:txBody>
      </p:sp>
      <p:sp>
        <p:nvSpPr>
          <p:cNvPr id="3" name="">
            <a:extLst xmlns:a="http://schemas.openxmlformats.org/drawingml/2006/main">
              <a:ext uri="{FF2B5EF4-FFF2-40B4-BE49-F238E27FC236}">
                <a16:creationId xmlns:a16="http://schemas.microsoft.com/office/drawing/2014/main" id="{C4AE9D23-E3A4-4482-B624-A0655A46AF6C}"/>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MODELING</a:t>
            </a:r>
          </a:p>
        </p:txBody>
      </p:sp>
      <p:sp>
        <p:nvSpPr>
          <p:cNvPr id="4" name="">
            <a:extLst xmlns:a="http://schemas.openxmlformats.org/drawingml/2006/main">
              <a:ext uri="{FF2B5EF4-FFF2-40B4-BE49-F238E27FC236}">
                <a16:creationId xmlns:a16="http://schemas.microsoft.com/office/drawing/2014/main" id="{9A18B3A6-7716-45CD-BD71-D818ED5C9104}"/>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 different approach?</a:t>
            </a:r>
          </a:p>
        </p:txBody>
      </p:sp>
      <p:sp>
        <p:nvSpPr>
          <p:cNvPr id="5" name="">
            <a:extLst xmlns:a="http://schemas.openxmlformats.org/drawingml/2006/main">
              <a:ext uri="{FF2B5EF4-FFF2-40B4-BE49-F238E27FC236}">
                <a16:creationId xmlns:a16="http://schemas.microsoft.com/office/drawing/2014/main" id="{E9B12F85-B144-40F0-B56A-C1E5FEA2B982}"/>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DATA</a:t>
            </a:r>
          </a:p>
        </p:txBody>
      </p:sp>
      <p:sp>
        <p:nvSpPr>
          <p:cNvPr id="6" name="">
            <a:extLst xmlns:a="http://schemas.openxmlformats.org/drawingml/2006/main">
              <a:ext uri="{FF2B5EF4-FFF2-40B4-BE49-F238E27FC236}">
                <a16:creationId xmlns:a16="http://schemas.microsoft.com/office/drawing/2014/main" id="{72BB09D8-1CD5-4E97-8C02-95CC2514F76C}"/>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Different observations?</a:t>
            </a:r>
          </a:p>
        </p:txBody>
      </p:sp>
      <p:sp>
        <p:nvSpPr>
          <p:cNvPr id="7" name="">
            <a:extLst xmlns:a="http://schemas.openxmlformats.org/drawingml/2006/main">
              <a:ext uri="{FF2B5EF4-FFF2-40B4-BE49-F238E27FC236}">
                <a16:creationId xmlns:a16="http://schemas.microsoft.com/office/drawing/2014/main" id="{47005F18-900A-48D4-8F1C-0557DC06343A}"/>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EXPERTISE</a:t>
            </a:r>
          </a:p>
        </p:txBody>
      </p:sp>
      <p:sp>
        <p:nvSpPr>
          <p:cNvPr id="8" name="">
            <a:extLst xmlns:a="http://schemas.openxmlformats.org/drawingml/2006/main">
              <a:ext uri="{FF2B5EF4-FFF2-40B4-BE49-F238E27FC236}">
                <a16:creationId xmlns:a16="http://schemas.microsoft.com/office/drawing/2014/main" id="{9FB354E9-0103-477A-A69B-ECC9838BAB3C}"/>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Different knowledge?</a:t>
            </a:r>
          </a:p>
        </p:txBody>
      </p:sp>
      <p:sp>
        <p:nvSpPr>
          <p:cNvPr id="9" name="">
            <a:extLst xmlns:a="http://schemas.openxmlformats.org/drawingml/2006/main">
              <a:ext uri="{FF2B5EF4-FFF2-40B4-BE49-F238E27FC236}">
                <a16:creationId xmlns:a16="http://schemas.microsoft.com/office/drawing/2014/main" id="{19D7DD51-EE14-407A-B1EA-39B258E83181}"/>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 Pushmeet Kohli, Latent Space interview | Practitioner perspective, not new experimental evidence</a:t>
            </a:r>
          </a:p>
        </p:txBody>
      </p:sp>
      <p:sp>
        <p:nvSpPr>
          <p:cNvPr id="10" name="">
            <a:extLst xmlns:a="http://schemas.openxmlformats.org/drawingml/2006/main">
              <a:ext uri="{FF2B5EF4-FFF2-40B4-BE49-F238E27FC236}">
                <a16:creationId xmlns:a16="http://schemas.microsoft.com/office/drawing/2014/main" id="{F1342862-1015-4D91-8F44-55E8B8E16735}"/>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4/6</a:t>
            </a:r>
          </a:p>
        </p:txBody>
      </p:sp>
    </p:spTree>
    <p:extLst>
      <p:ext uri="{BB962C8B-B14F-4D97-AF65-F5344CB8AC3E}">
        <p14:creationId xmlns:p14="http://schemas.microsoft.com/office/powerpoint/2010/main" val="959214614"/>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8B3AC4-27BB-425E-ADED-971FA1A370C3}"/>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163FD562-F4FD-4C21-B67D-382C24B7C660}"/>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Hardware limits and conflicting claims</a:t>
            </a:r>
          </a:p>
        </p:txBody>
      </p:sp>
      <p:sp>
        <p:nvSpPr>
          <p:cNvPr id="3" name="">
            <a:extLst xmlns:a="http://schemas.openxmlformats.org/drawingml/2006/main">
              <a:ext uri="{FF2B5EF4-FFF2-40B4-BE49-F238E27FC236}">
                <a16:creationId xmlns:a16="http://schemas.microsoft.com/office/drawing/2014/main" id="{2DD42625-A56B-4E77-A600-A414DE9BC8F3}"/>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DYNA ROBOTICS</a:t>
            </a:r>
          </a:p>
        </p:txBody>
      </p:sp>
      <p:sp>
        <p:nvSpPr>
          <p:cNvPr id="4" name="">
            <a:extLst xmlns:a="http://schemas.openxmlformats.org/drawingml/2006/main">
              <a:ext uri="{FF2B5EF4-FFF2-40B4-BE49-F238E27FC236}">
                <a16:creationId xmlns:a16="http://schemas.microsoft.com/office/drawing/2014/main" id="{4F2F480C-C5D4-4EE4-9817-20BDCD004E43}"/>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Data and hardware matter</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Strategies remain unsettled</a:t>
            </a:r>
          </a:p>
        </p:txBody>
      </p:sp>
      <p:sp>
        <p:nvSpPr>
          <p:cNvPr id="5" name="">
            <a:extLst xmlns:a="http://schemas.openxmlformats.org/drawingml/2006/main">
              <a:ext uri="{FF2B5EF4-FFF2-40B4-BE49-F238E27FC236}">
                <a16:creationId xmlns:a16="http://schemas.microsoft.com/office/drawing/2014/main" id="{9342D1A5-D4A2-402C-BFB3-32ED152879BF}"/>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FLOCK REPORT</a:t>
            </a:r>
          </a:p>
        </p:txBody>
      </p:sp>
      <p:sp>
        <p:nvSpPr>
          <p:cNvPr id="6" name="">
            <a:extLst xmlns:a="http://schemas.openxmlformats.org/drawingml/2006/main">
              <a:ext uri="{FF2B5EF4-FFF2-40B4-BE49-F238E27FC236}">
                <a16:creationId xmlns:a16="http://schemas.microsoft.com/office/drawing/2014/main" id="{2F5F4E23-94C7-4219-A1A6-2330583491DA}"/>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Public statements differ</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about sound detection</a:t>
            </a:r>
          </a:p>
        </p:txBody>
      </p:sp>
      <p:sp>
        <p:nvSpPr>
          <p:cNvPr id="7" name="">
            <a:extLst xmlns:a="http://schemas.openxmlformats.org/drawingml/2006/main">
              <a:ext uri="{FF2B5EF4-FFF2-40B4-BE49-F238E27FC236}">
                <a16:creationId xmlns:a16="http://schemas.microsoft.com/office/drawing/2014/main" id="{3A6C8F03-0703-4030-B836-A3381FD92717}"/>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EVIDENCE LIMIT</a:t>
            </a:r>
          </a:p>
        </p:txBody>
      </p:sp>
      <p:sp>
        <p:nvSpPr>
          <p:cNvPr id="8" name="">
            <a:extLst xmlns:a="http://schemas.openxmlformats.org/drawingml/2006/main">
              <a:ext uri="{FF2B5EF4-FFF2-40B4-BE49-F238E27FC236}">
                <a16:creationId xmlns:a16="http://schemas.microsoft.com/office/drawing/2014/main" id="{61E4BB55-E294-42AF-B091-BA7831E60627}"/>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Company interview and reporting</a:t>
            </a:r>
          </a:p>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No independent technical audit</a:t>
            </a:r>
          </a:p>
        </p:txBody>
      </p:sp>
      <p:sp>
        <p:nvSpPr>
          <p:cNvPr id="9" name="">
            <a:extLst xmlns:a="http://schemas.openxmlformats.org/drawingml/2006/main">
              <a:ext uri="{FF2B5EF4-FFF2-40B4-BE49-F238E27FC236}">
                <a16:creationId xmlns:a16="http://schemas.microsoft.com/office/drawing/2014/main" id="{AFF88DFF-BB1B-43F6-BA5F-67F466A2F4CA}"/>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Sources: Jason Ma interview · TechCrunch | These accounts do not verify deployment or detection claims</a:t>
            </a:r>
          </a:p>
        </p:txBody>
      </p:sp>
      <p:sp>
        <p:nvSpPr>
          <p:cNvPr id="10" name="">
            <a:extLst xmlns:a="http://schemas.openxmlformats.org/drawingml/2006/main">
              <a:ext uri="{FF2B5EF4-FFF2-40B4-BE49-F238E27FC236}">
                <a16:creationId xmlns:a16="http://schemas.microsoft.com/office/drawing/2014/main" id="{CC53BD1C-4352-443E-858E-DB9B437B962B}"/>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5/6</a:t>
            </a:r>
          </a:p>
        </p:txBody>
      </p:sp>
    </p:spTree>
    <p:extLst>
      <p:ext uri="{BB962C8B-B14F-4D97-AF65-F5344CB8AC3E}">
        <p14:creationId xmlns:p14="http://schemas.microsoft.com/office/powerpoint/2010/main" val="1940052962"/>
      </p:ext>
    </p:extLst>
  </p:cSld>
</p:sld>
</file>

<file path=ppt/slides/slide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E62A58-9AEA-462D-BCFB-857948A959C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B7378"/>
                </a:solidFill>
                <a:latin typeface="Arial"/>
                <a:ea typeface="Arial"/>
                <a:cs typeface="Arial"/>
              </a:defRPr>
            </a:pPr>
            <a:r>
              <a:rPr sz="1500" b="1">
                <a:solidFill>
                  <a:srgbClr val="1B7378"/>
                </a:solidFill>
                <a:latin typeface="Arial"/>
                <a:ea typeface="Arial"/>
                <a:cs typeface="Arial"/>
              </a:rPr>
              <a:t>AI FRONTIER WATCH  /  03</a:t>
            </a:r>
          </a:p>
        </p:txBody>
      </p:sp>
      <p:sp>
        <p:nvSpPr>
          <p:cNvPr id="2" name="">
            <a:extLst xmlns:a="http://schemas.openxmlformats.org/drawingml/2006/main">
              <a:ext uri="{FF2B5EF4-FFF2-40B4-BE49-F238E27FC236}">
                <a16:creationId xmlns:a16="http://schemas.microsoft.com/office/drawing/2014/main" id="{CD6F733F-9A6F-4A54-AE56-5EBB691BA994}"/>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138"/>
                </a:solidFill>
                <a:latin typeface="Arial"/>
                <a:ea typeface="Arial"/>
                <a:cs typeface="Arial"/>
              </a:defRPr>
            </a:pPr>
            <a:r>
              <a:rPr sz="3450" b="1">
                <a:solidFill>
                  <a:srgbClr val="173138"/>
                </a:solidFill>
                <a:latin typeface="Arial"/>
                <a:ea typeface="Arial"/>
                <a:cs typeface="Arial"/>
              </a:rPr>
              <a:t>What constraint limits this system?</a:t>
            </a:r>
          </a:p>
        </p:txBody>
      </p:sp>
      <p:sp>
        <p:nvSpPr>
          <p:cNvPr id="3" name="">
            <a:extLst xmlns:a="http://schemas.openxmlformats.org/drawingml/2006/main">
              <a:ext uri="{FF2B5EF4-FFF2-40B4-BE49-F238E27FC236}">
                <a16:creationId xmlns:a16="http://schemas.microsoft.com/office/drawing/2014/main" id="{017DEA9F-8076-4C3B-87FA-2A9DBB9EFA8E}"/>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INFRASTRUCTURE</a:t>
            </a:r>
          </a:p>
        </p:txBody>
      </p:sp>
      <p:sp>
        <p:nvSpPr>
          <p:cNvPr id="4" name="">
            <a:extLst xmlns:a="http://schemas.openxmlformats.org/drawingml/2006/main">
              <a:ext uri="{FF2B5EF4-FFF2-40B4-BE49-F238E27FC236}">
                <a16:creationId xmlns:a16="http://schemas.microsoft.com/office/drawing/2014/main" id="{EF13DC8C-7F1E-431B-BBCB-4F60DF3B83EF}"/>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Workflow and evaluation</a:t>
            </a:r>
          </a:p>
        </p:txBody>
      </p:sp>
      <p:sp>
        <p:nvSpPr>
          <p:cNvPr id="5" name="">
            <a:extLst xmlns:a="http://schemas.openxmlformats.org/drawingml/2006/main">
              <a:ext uri="{FF2B5EF4-FFF2-40B4-BE49-F238E27FC236}">
                <a16:creationId xmlns:a16="http://schemas.microsoft.com/office/drawing/2014/main" id="{2F931AD2-38A9-4E6F-9FFD-F8C859ECCB5B}"/>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DOMAIN KNOWLEDGE</a:t>
            </a:r>
          </a:p>
        </p:txBody>
      </p:sp>
      <p:sp>
        <p:nvSpPr>
          <p:cNvPr id="6" name="">
            <a:extLst xmlns:a="http://schemas.openxmlformats.org/drawingml/2006/main">
              <a:ext uri="{FF2B5EF4-FFF2-40B4-BE49-F238E27FC236}">
                <a16:creationId xmlns:a16="http://schemas.microsoft.com/office/drawing/2014/main" id="{D87CB6EC-7DB2-43F1-ADAB-53542C8FF989}"/>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Data and expertise</a:t>
            </a:r>
          </a:p>
        </p:txBody>
      </p:sp>
      <p:sp>
        <p:nvSpPr>
          <p:cNvPr id="7" name="">
            <a:extLst xmlns:a="http://schemas.openxmlformats.org/drawingml/2006/main">
              <a:ext uri="{FF2B5EF4-FFF2-40B4-BE49-F238E27FC236}">
                <a16:creationId xmlns:a16="http://schemas.microsoft.com/office/drawing/2014/main" id="{455DDC6E-2D00-40AB-B19F-BBAF15D20C39}"/>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7378"/>
                </a:solidFill>
                <a:latin typeface="Arial"/>
                <a:ea typeface="Arial"/>
                <a:cs typeface="Arial"/>
              </a:defRPr>
            </a:pPr>
            <a:r>
              <a:rPr sz="2025" b="1">
                <a:solidFill>
                  <a:srgbClr val="1B7378"/>
                </a:solidFill>
                <a:latin typeface="Arial"/>
                <a:ea typeface="Arial"/>
                <a:cs typeface="Arial"/>
              </a:rPr>
              <a:t>PHYSICAL SYSTEMS</a:t>
            </a:r>
          </a:p>
        </p:txBody>
      </p:sp>
      <p:sp>
        <p:nvSpPr>
          <p:cNvPr id="8" name="">
            <a:extLst xmlns:a="http://schemas.openxmlformats.org/drawingml/2006/main">
              <a:ext uri="{FF2B5EF4-FFF2-40B4-BE49-F238E27FC236}">
                <a16:creationId xmlns:a16="http://schemas.microsoft.com/office/drawing/2014/main" id="{207D4827-706B-4D3C-A298-02D28AF213B4}"/>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138"/>
                </a:solidFill>
                <a:latin typeface="Arial"/>
                <a:ea typeface="Arial"/>
                <a:cs typeface="Arial"/>
              </a:defRPr>
            </a:pPr>
            <a:r>
              <a:rPr sz="2175" b="0">
                <a:solidFill>
                  <a:srgbClr val="173138"/>
                </a:solidFill>
                <a:latin typeface="Arial"/>
                <a:ea typeface="Arial"/>
                <a:cs typeface="Arial"/>
              </a:rPr>
              <a:t>Hardware and independent checks</a:t>
            </a:r>
          </a:p>
        </p:txBody>
      </p:sp>
      <p:sp>
        <p:nvSpPr>
          <p:cNvPr id="9" name="">
            <a:extLst xmlns:a="http://schemas.openxmlformats.org/drawingml/2006/main">
              <a:ext uri="{FF2B5EF4-FFF2-40B4-BE49-F238E27FC236}">
                <a16:creationId xmlns:a16="http://schemas.microsoft.com/office/drawing/2014/main" id="{855B21AE-29F1-4ACE-AB9A-2C9D384A7B28}"/>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35D65"/>
                </a:solidFill>
                <a:latin typeface="Arial"/>
                <a:ea typeface="Arial"/>
                <a:cs typeface="Arial"/>
              </a:defRPr>
            </a:pPr>
            <a:r>
              <a:rPr sz="1425" b="0">
                <a:solidFill>
                  <a:srgbClr val="435D65"/>
                </a:solidFill>
                <a:latin typeface="Arial"/>
                <a:ea typeface="Arial"/>
                <a:cs typeface="Arial"/>
              </a:rPr>
              <a:t>Sources: Willison · ML Intern · Latent Space · TechCrunch | Selected examples suggest, not prove, a trend</a:t>
            </a:r>
          </a:p>
        </p:txBody>
      </p:sp>
      <p:sp>
        <p:nvSpPr>
          <p:cNvPr id="10" name="">
            <a:extLst xmlns:a="http://schemas.openxmlformats.org/drawingml/2006/main">
              <a:ext uri="{FF2B5EF4-FFF2-40B4-BE49-F238E27FC236}">
                <a16:creationId xmlns:a16="http://schemas.microsoft.com/office/drawing/2014/main" id="{6A070169-4450-4C24-88C9-52A56BE8C260}"/>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6/6</a:t>
            </a:r>
          </a:p>
        </p:txBody>
      </p:sp>
    </p:spTree>
    <p:extLst>
      <p:ext uri="{BB962C8B-B14F-4D97-AF65-F5344CB8AC3E}">
        <p14:creationId xmlns:p14="http://schemas.microsoft.com/office/powerpoint/2010/main" val="18630508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2026-10-15T02:56:42.1810000Z</dcterms:created>
  <dcterms:modified xsi:type="dcterms:W3CDTF">2026-10-15T02:56:42.1810000Z</dcterms:modified>
</coreProperties>
</file>