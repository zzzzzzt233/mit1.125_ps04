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00179216bd4253" /><Relationship Type="http://schemas.openxmlformats.org/officeDocument/2006/relationships/extended-properties" Target="/docProps/app.xml" Id="R780f26c416e34d35" /><Relationship Type="http://schemas.openxmlformats.org/officeDocument/2006/relationships/officeDocument" Target="/ppt/presentation.xml" Id="R2ac5d2c8728e420b" /></Relationships>
</file>

<file path=ppt/presentation.xml><?xml version="1.0" encoding="utf-8"?>
<p:presentation xmlns:p="http://schemas.openxmlformats.org/presentationml/2006/main">
  <p:sldMasterIdLst>
    <p:sldMasterId xmlns:r="http://schemas.openxmlformats.org/officeDocument/2006/relationships" id="2147483648" r:id="R6957d26c3aa54d4e"/>
  </p:sldMasterIdLst>
  <p:notesMasterIdLst>
    <p:notesMasterId xmlns:r="http://schemas.openxmlformats.org/officeDocument/2006/relationships" r:id="Rbc42219e833b4569"/>
  </p:notesMasterIdLst>
  <p:sldIdLst>
    <p:sldId xmlns:r="http://schemas.openxmlformats.org/officeDocument/2006/relationships" id="256" r:id="R22a29e8cf2484e94"/>
    <p:sldId xmlns:r="http://schemas.openxmlformats.org/officeDocument/2006/relationships" id="257" r:id="R34196459884d4ca0"/>
    <p:sldId xmlns:r="http://schemas.openxmlformats.org/officeDocument/2006/relationships" id="258" r:id="R0b594d611baa4258"/>
    <p:sldId xmlns:r="http://schemas.openxmlformats.org/officeDocument/2006/relationships" id="259" r:id="R1b0192a74d6848ce"/>
    <p:sldId xmlns:r="http://schemas.openxmlformats.org/officeDocument/2006/relationships" id="260" r:id="R8b2503c9b304463e"/>
    <p:sldId xmlns:r="http://schemas.openxmlformats.org/officeDocument/2006/relationships" id="261" r:id="Rc404ae1d0a2347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0da9fa4c474cd9" /><Relationship Type="http://schemas.openxmlformats.org/officeDocument/2006/relationships/slideMaster" Target="/ppt/slideMasters/slideMaster1.xml" Id="R6957d26c3aa54d4e" /><Relationship Type="http://schemas.openxmlformats.org/officeDocument/2006/relationships/notesMaster" Target="/ppt/notesMasters/notesMaster1.xml" Id="Rbc42219e833b4569" /><Relationship Type="http://schemas.openxmlformats.org/officeDocument/2006/relationships/presProps" Target="/ppt/presProps.xml" Id="R02ad4371a3fd4398" /><Relationship Type="http://schemas.openxmlformats.org/officeDocument/2006/relationships/tableStyles" Target="/ppt/tableStyles.xml" Id="Re6209b0be36a448d" /><Relationship Type="http://schemas.openxmlformats.org/officeDocument/2006/relationships/slide" Target="/ppt/slides/slide1.xml" Id="R22a29e8cf2484e94" /><Relationship Type="http://schemas.openxmlformats.org/officeDocument/2006/relationships/slide" Target="/ppt/slides/slide2.xml" Id="R34196459884d4ca0" /><Relationship Type="http://schemas.openxmlformats.org/officeDocument/2006/relationships/slide" Target="/ppt/slides/slide3.xml" Id="R0b594d611baa4258" /><Relationship Type="http://schemas.openxmlformats.org/officeDocument/2006/relationships/slide" Target="/ppt/slides/slide4.xml" Id="R1b0192a74d6848ce" /><Relationship Type="http://schemas.openxmlformats.org/officeDocument/2006/relationships/slide" Target="/ppt/slides/slide5.xml" Id="R8b2503c9b304463e" /><Relationship Type="http://schemas.openxmlformats.org/officeDocument/2006/relationships/slide" Target="/ppt/slides/slide6.xml" Id="Rc404ae1d0a23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81eb67eec546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cd43c8e2414d9e" /><Relationship Type="http://schemas.openxmlformats.org/officeDocument/2006/relationships/notesMaster" Target="/ppt/notesMasters/notesMaster1.xml" Id="Ra3dea194c8ce4d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f23ba307434469" /><Relationship Type="http://schemas.openxmlformats.org/officeDocument/2006/relationships/notesMaster" Target="/ppt/notesMasters/notesMaster1.xml" Id="R78d2202f71534a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cddd77ec1e487d" /><Relationship Type="http://schemas.openxmlformats.org/officeDocument/2006/relationships/notesMaster" Target="/ppt/notesMasters/notesMaster1.xml" Id="R6bb8c038777043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7a444b2ace44a3" /><Relationship Type="http://schemas.openxmlformats.org/officeDocument/2006/relationships/notesMaster" Target="/ppt/notesMasters/notesMaster1.xml" Id="Re386a94e9ecd47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e350a5c1684fbf" /><Relationship Type="http://schemas.openxmlformats.org/officeDocument/2006/relationships/notesMaster" Target="/ppt/notesMasters/notesMaster1.xml" Id="R7bfba2ffcfdb43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468e16c72c49a5" /><Relationship Type="http://schemas.openxmlformats.org/officeDocument/2006/relationships/notesMaster" Target="/ppt/notesMasters/notesMaster1.xml" Id="Re97d14004e7643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benchmark score can sound like a verdict. More often, it answers a narrower question: how did a system perform on a particular task, using a particular test and setup? This month’s examples make that distinction clear. Liquid AI evaluates a language model on tool use, instruction following, knowledge and coding. TII tests speech transcription. Ai2 works on high-resolution weather simulation. Their results may each matter for their intended use, but they are not entries in one shared competition.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Liquid AI says its LFM2.5-24B-A2B model uses a mixture-of-experts design. In plain language, that means it contains multiple expert components, while a routing mechanism selects only some for each token. The company describes 40 layers and 64 experts in each block, with four selected at a time. It also says the context window—the amount of material the model can consider in a session—grew from 32,000 to 131,000 tokens. These design details explain the system’s structure; by themselves, they do not show how well it will serve a particular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company’s own benchmark table tells a mixed story. Liquid AI reports competitive results on several tool-use and instruction-following tests, while its table shows larger rivals ahead on several knowledge-heavy and coding benchmarks. It says the models were evaluated with vLLM, a tool for running language models, using each benchmark’s recommended generation settings. That supplies some shared context, but the results remain company-produced and specific to those tests. The useful takeaway is not that one model wins at everything; it is that a model’s strengths can depend on the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Falcon-ASR addresses a different task: converting speech into text, with a particular focus on Arabic and the Emirati dialect. TII reports a mean word error rate, or WER, of 20.92 percent across six public Arabic test sets. WER is the share of words transcribed incorrectly, so lower is better. TII compares that result with 23.17 percent for the best published result in its September 30, 2026 leaderboard snapshot. This is a developer-reported comparison under that protocol, not an independent replication or a guarantee for every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TII also reports a separate internal Emirati evaluation using held-out recordings and transcripts checked by people. For that test, it reports 22.73 percent WER and 10.19 percent character error rate. But the account here does not specify the sample size or how representative those recordings are. That makes the result relevant to the material tested while leaving an important question open: would performance transfer to other speakers, recording conditions or mixtures of dialects? A metric is only as informative as the test material and the scope of the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Ai2’s HiRO-ACEv2 is different again: it sharpens coarse climate-model output into higher-resolution weather detail. Ai2 says its updated model predicts several fields, not just rainfall, and improves performance on extreme events. But it currently works only with the ACE version tuned to match X-SHiELD, the reference simulation it learned from. This is evidence about agreement under those conditions, not proof of forecasting skill across every climate. A separate Hugging Face post describes asking for a baseline, a small smoke test and a spending cap before larger training jobs. Those author-reported practices illustrate evaluation discipline, not independent validation. Across these examples, what does a test measure—and does that match the decision you need to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16fa78566044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1fac4005f34776" /><Relationship Type="http://schemas.openxmlformats.org/officeDocument/2006/relationships/slideLayout" Target="/ppt/slideLayouts/slideLayout1.xml" Id="R4b0cff2cb18b43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0cff2cb18b43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c68cb53e534b41" /><Relationship Type="http://schemas.openxmlformats.org/officeDocument/2006/relationships/notesSlide" Target="/ppt/notesSlides/notesSlide1.xml" Id="Rfd97739f3c2649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2ee3dd01cf4cae" /><Relationship Type="http://schemas.openxmlformats.org/officeDocument/2006/relationships/notesSlide" Target="/ppt/notesSlides/notesSlide2.xml" Id="R83f45207974341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a5edd523ea45a2" /><Relationship Type="http://schemas.openxmlformats.org/officeDocument/2006/relationships/notesSlide" Target="/ppt/notesSlides/notesSlide3.xml" Id="R7265edc62ab945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f7a42cc7f64997" /><Relationship Type="http://schemas.openxmlformats.org/officeDocument/2006/relationships/notesSlide" Target="/ppt/notesSlides/notesSlide4.xml" Id="Rd197c8e6bfe84c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f58c1ac55b4fae" /><Relationship Type="http://schemas.openxmlformats.org/officeDocument/2006/relationships/notesSlide" Target="/ppt/notesSlides/notesSlide5.xml" Id="Re084e4a6c02941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de9dac875d42a3" /><Relationship Type="http://schemas.openxmlformats.org/officeDocument/2006/relationships/notesSlide" Target="/ppt/notesSlides/notesSlide6.xml" Id="R62362420bc53434e" /></Relationships>
</file>

<file path=ppt/slides/slide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E95AFC-2658-4C45-AA75-60E0706F8800}"/>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CF110C12-2285-4051-8333-3870ABE8EA96}"/>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Different tasks, different measures</a:t>
            </a:r>
          </a:p>
        </p:txBody>
      </p:sp>
      <p:sp>
        <p:nvSpPr>
          <p:cNvPr id="3" name="">
            <a:extLst xmlns:a="http://schemas.openxmlformats.org/drawingml/2006/main">
              <a:ext uri="{FF2B5EF4-FFF2-40B4-BE49-F238E27FC236}">
                <a16:creationId xmlns:a16="http://schemas.microsoft.com/office/drawing/2014/main" id="{B0B11316-9BFB-430E-88CA-25EC3E942560}"/>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LANGUAGE MODELS</a:t>
            </a:r>
          </a:p>
        </p:txBody>
      </p:sp>
      <p:sp>
        <p:nvSpPr>
          <p:cNvPr id="4" name="">
            <a:extLst xmlns:a="http://schemas.openxmlformats.org/drawingml/2006/main">
              <a:ext uri="{FF2B5EF4-FFF2-40B4-BE49-F238E27FC236}">
                <a16:creationId xmlns:a16="http://schemas.microsoft.com/office/drawing/2014/main" id="{A883AC21-01F7-4A9C-89AB-FD4FDD3BBBC0}"/>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Tool use, knowledge, coding</a:t>
            </a:r>
          </a:p>
        </p:txBody>
      </p:sp>
      <p:sp>
        <p:nvSpPr>
          <p:cNvPr id="5" name="">
            <a:extLst xmlns:a="http://schemas.openxmlformats.org/drawingml/2006/main">
              <a:ext uri="{FF2B5EF4-FFF2-40B4-BE49-F238E27FC236}">
                <a16:creationId xmlns:a16="http://schemas.microsoft.com/office/drawing/2014/main" id="{C8F4F0D6-F03B-4D5C-BF77-62F798B0C021}"/>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SPEECH TRANSCRIPTION</a:t>
            </a:r>
          </a:p>
        </p:txBody>
      </p:sp>
      <p:sp>
        <p:nvSpPr>
          <p:cNvPr id="6" name="">
            <a:extLst xmlns:a="http://schemas.openxmlformats.org/drawingml/2006/main">
              <a:ext uri="{FF2B5EF4-FFF2-40B4-BE49-F238E27FC236}">
                <a16:creationId xmlns:a16="http://schemas.microsoft.com/office/drawing/2014/main" id="{F9BD18F0-3F5B-47B3-A8DF-E42A904A9663}"/>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Errors in recognized words</a:t>
            </a:r>
          </a:p>
        </p:txBody>
      </p:sp>
      <p:sp>
        <p:nvSpPr>
          <p:cNvPr id="7" name="">
            <a:extLst xmlns:a="http://schemas.openxmlformats.org/drawingml/2006/main">
              <a:ext uri="{FF2B5EF4-FFF2-40B4-BE49-F238E27FC236}">
                <a16:creationId xmlns:a16="http://schemas.microsoft.com/office/drawing/2014/main" id="{F35DAAE8-4B97-463D-92D7-32F8A19211A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WEATHER SIMULATION</a:t>
            </a:r>
          </a:p>
        </p:txBody>
      </p:sp>
      <p:sp>
        <p:nvSpPr>
          <p:cNvPr id="8" name="">
            <a:extLst xmlns:a="http://schemas.openxmlformats.org/drawingml/2006/main">
              <a:ext uri="{FF2B5EF4-FFF2-40B4-BE49-F238E27FC236}">
                <a16:creationId xmlns:a16="http://schemas.microsoft.com/office/drawing/2014/main" id="{3DB59C2B-9793-4F4B-9D87-440DE3782D71}"/>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Agreement with reference conditions</a:t>
            </a:r>
          </a:p>
        </p:txBody>
      </p:sp>
      <p:sp>
        <p:nvSpPr>
          <p:cNvPr id="9" name="">
            <a:extLst xmlns:a="http://schemas.openxmlformats.org/drawingml/2006/main">
              <a:ext uri="{FF2B5EF4-FFF2-40B4-BE49-F238E27FC236}">
                <a16:creationId xmlns:a16="http://schemas.microsoft.com/office/drawing/2014/main" id="{0AADEBC8-E89B-48FA-AA1D-7FBB819F392E}"/>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Liquid AI · TII · Ai2 | These systems do not share one ranking</a:t>
            </a:r>
          </a:p>
        </p:txBody>
      </p:sp>
      <p:sp>
        <p:nvSpPr>
          <p:cNvPr id="10" name="">
            <a:extLst xmlns:a="http://schemas.openxmlformats.org/drawingml/2006/main">
              <a:ext uri="{FF2B5EF4-FFF2-40B4-BE49-F238E27FC236}">
                <a16:creationId xmlns:a16="http://schemas.microsoft.com/office/drawing/2014/main" id="{87E8ABAB-C372-4AE9-9167-187F56FE0A0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1/6</a:t>
            </a:r>
          </a:p>
        </p:txBody>
      </p:sp>
    </p:spTree>
    <p:extLst>
      <p:ext uri="{BB962C8B-B14F-4D97-AF65-F5344CB8AC3E}">
        <p14:creationId xmlns:p14="http://schemas.microsoft.com/office/powerpoint/2010/main" val="2093989668"/>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59A16E-1EB9-456B-9D46-726A2EB7FB1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509A9D0A-082A-4875-85A9-3C22F4DFAA7E}"/>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Liquid AI’s model structure</a:t>
            </a:r>
          </a:p>
        </p:txBody>
      </p:sp>
      <p:sp>
        <p:nvSpPr>
          <p:cNvPr id="3" name="">
            <a:extLst xmlns:a="http://schemas.openxmlformats.org/drawingml/2006/main">
              <a:ext uri="{FF2B5EF4-FFF2-40B4-BE49-F238E27FC236}">
                <a16:creationId xmlns:a16="http://schemas.microsoft.com/office/drawing/2014/main" id="{AC34DC55-2BB9-4CEE-8CD7-D440C123BF6E}"/>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40 LAYERS</a:t>
            </a:r>
          </a:p>
        </p:txBody>
      </p:sp>
      <p:sp>
        <p:nvSpPr>
          <p:cNvPr id="4" name="">
            <a:extLst xmlns:a="http://schemas.openxmlformats.org/drawingml/2006/main">
              <a:ext uri="{FF2B5EF4-FFF2-40B4-BE49-F238E27FC236}">
                <a16:creationId xmlns:a16="http://schemas.microsoft.com/office/drawing/2014/main" id="{9F7B5842-2BC1-4A8A-8872-A195D8400373}"/>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64 experts in each block</a:t>
            </a:r>
          </a:p>
        </p:txBody>
      </p:sp>
      <p:sp>
        <p:nvSpPr>
          <p:cNvPr id="5" name="">
            <a:extLst xmlns:a="http://schemas.openxmlformats.org/drawingml/2006/main">
              <a:ext uri="{FF2B5EF4-FFF2-40B4-BE49-F238E27FC236}">
                <a16:creationId xmlns:a16="http://schemas.microsoft.com/office/drawing/2014/main" id="{D858250B-7753-4E19-8AA6-4D3631E2C5BA}"/>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4 EXPERTS SELECTED</a:t>
            </a:r>
          </a:p>
        </p:txBody>
      </p:sp>
      <p:sp>
        <p:nvSpPr>
          <p:cNvPr id="6" name="">
            <a:extLst xmlns:a="http://schemas.openxmlformats.org/drawingml/2006/main">
              <a:ext uri="{FF2B5EF4-FFF2-40B4-BE49-F238E27FC236}">
                <a16:creationId xmlns:a16="http://schemas.microsoft.com/office/drawing/2014/main" id="{56E3B4A8-C890-4E68-B221-4D536CA8C797}"/>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Routing for each token</a:t>
            </a:r>
          </a:p>
        </p:txBody>
      </p:sp>
      <p:sp>
        <p:nvSpPr>
          <p:cNvPr id="7" name="">
            <a:extLst xmlns:a="http://schemas.openxmlformats.org/drawingml/2006/main">
              <a:ext uri="{FF2B5EF4-FFF2-40B4-BE49-F238E27FC236}">
                <a16:creationId xmlns:a16="http://schemas.microsoft.com/office/drawing/2014/main" id="{0710AA19-2004-46A9-947B-95333E98F464}"/>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32K → 131K TOKENS</a:t>
            </a:r>
          </a:p>
        </p:txBody>
      </p:sp>
      <p:sp>
        <p:nvSpPr>
          <p:cNvPr id="8" name="">
            <a:extLst xmlns:a="http://schemas.openxmlformats.org/drawingml/2006/main">
              <a:ext uri="{FF2B5EF4-FFF2-40B4-BE49-F238E27FC236}">
                <a16:creationId xmlns:a16="http://schemas.microsoft.com/office/drawing/2014/main" id="{23972839-13F8-4E2E-87C0-2EDA01BC30C2}"/>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Reported context-window expansion</a:t>
            </a:r>
          </a:p>
        </p:txBody>
      </p:sp>
      <p:sp>
        <p:nvSpPr>
          <p:cNvPr id="9" name="">
            <a:extLst xmlns:a="http://schemas.openxmlformats.org/drawingml/2006/main">
              <a:ext uri="{FF2B5EF4-FFF2-40B4-BE49-F238E27FC236}">
                <a16:creationId xmlns:a16="http://schemas.microsoft.com/office/drawing/2014/main" id="{B57A6A3F-4730-4A78-A0D4-DC4C261E43B5}"/>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Liquid AI | Architectural descriptions do not establish performance for every use</a:t>
            </a:r>
          </a:p>
        </p:txBody>
      </p:sp>
      <p:sp>
        <p:nvSpPr>
          <p:cNvPr id="10" name="">
            <a:extLst xmlns:a="http://schemas.openxmlformats.org/drawingml/2006/main">
              <a:ext uri="{FF2B5EF4-FFF2-40B4-BE49-F238E27FC236}">
                <a16:creationId xmlns:a16="http://schemas.microsoft.com/office/drawing/2014/main" id="{95DDB4D4-59E5-4DF1-8F88-53DB38F448E4}"/>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2/6</a:t>
            </a:r>
          </a:p>
        </p:txBody>
      </p:sp>
    </p:spTree>
    <p:extLst>
      <p:ext uri="{BB962C8B-B14F-4D97-AF65-F5344CB8AC3E}">
        <p14:creationId xmlns:p14="http://schemas.microsoft.com/office/powerpoint/2010/main" val="348704335"/>
      </p:ext>
    </p:extLst>
  </p:cSld>
</p:sld>
</file>

<file path=ppt/slides/slide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0390F2-EF87-407E-8DEB-6A844E81F79C}"/>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324F06BA-E113-49C3-9760-1900424CF1E7}"/>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Results depend on the task</a:t>
            </a:r>
          </a:p>
        </p:txBody>
      </p:sp>
      <p:sp>
        <p:nvSpPr>
          <p:cNvPr id="3" name="">
            <a:extLst xmlns:a="http://schemas.openxmlformats.org/drawingml/2006/main">
              <a:ext uri="{FF2B5EF4-FFF2-40B4-BE49-F238E27FC236}">
                <a16:creationId xmlns:a16="http://schemas.microsoft.com/office/drawing/2014/main" id="{3C1383D3-4A49-46E8-B3EE-F7931DC54A5D}"/>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REPORTED STRENGTHS</a:t>
            </a:r>
          </a:p>
        </p:txBody>
      </p:sp>
      <p:sp>
        <p:nvSpPr>
          <p:cNvPr id="4" name="">
            <a:extLst xmlns:a="http://schemas.openxmlformats.org/drawingml/2006/main">
              <a:ext uri="{FF2B5EF4-FFF2-40B4-BE49-F238E27FC236}">
                <a16:creationId xmlns:a16="http://schemas.microsoft.com/office/drawing/2014/main" id="{C45DF137-EEF7-4C08-8A4B-379593A56619}"/>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Several tool-use and instruction tests</a:t>
            </a:r>
          </a:p>
        </p:txBody>
      </p:sp>
      <p:sp>
        <p:nvSpPr>
          <p:cNvPr id="5" name="">
            <a:extLst xmlns:a="http://schemas.openxmlformats.org/drawingml/2006/main">
              <a:ext uri="{FF2B5EF4-FFF2-40B4-BE49-F238E27FC236}">
                <a16:creationId xmlns:a16="http://schemas.microsoft.com/office/drawing/2014/main" id="{76A096C9-2ED3-4648-9914-FC4C2203A6C8}"/>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RIVALS AHEAD</a:t>
            </a:r>
          </a:p>
        </p:txBody>
      </p:sp>
      <p:sp>
        <p:nvSpPr>
          <p:cNvPr id="6" name="">
            <a:extLst xmlns:a="http://schemas.openxmlformats.org/drawingml/2006/main">
              <a:ext uri="{FF2B5EF4-FFF2-40B4-BE49-F238E27FC236}">
                <a16:creationId xmlns:a16="http://schemas.microsoft.com/office/drawing/2014/main" id="{00B40459-41A5-449E-8FE1-2EC776BA7FF0}"/>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Several knowledge and coding tests</a:t>
            </a:r>
          </a:p>
        </p:txBody>
      </p:sp>
      <p:sp>
        <p:nvSpPr>
          <p:cNvPr id="7" name="">
            <a:extLst xmlns:a="http://schemas.openxmlformats.org/drawingml/2006/main">
              <a:ext uri="{FF2B5EF4-FFF2-40B4-BE49-F238E27FC236}">
                <a16:creationId xmlns:a16="http://schemas.microsoft.com/office/drawing/2014/main" id="{4B3F8E86-E494-4798-83B8-0679C263648A}"/>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TEST CONTEXT</a:t>
            </a:r>
          </a:p>
        </p:txBody>
      </p:sp>
      <p:sp>
        <p:nvSpPr>
          <p:cNvPr id="8" name="">
            <a:extLst xmlns:a="http://schemas.openxmlformats.org/drawingml/2006/main">
              <a:ext uri="{FF2B5EF4-FFF2-40B4-BE49-F238E27FC236}">
                <a16:creationId xmlns:a16="http://schemas.microsoft.com/office/drawing/2014/main" id="{E82AFE2C-88E9-4D5D-831D-493315253470}"/>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vLLM; recommended generation settings</a:t>
            </a:r>
          </a:p>
        </p:txBody>
      </p:sp>
      <p:sp>
        <p:nvSpPr>
          <p:cNvPr id="9" name="">
            <a:extLst xmlns:a="http://schemas.openxmlformats.org/drawingml/2006/main">
              <a:ext uri="{FF2B5EF4-FFF2-40B4-BE49-F238E27FC236}">
                <a16:creationId xmlns:a16="http://schemas.microsoft.com/office/drawing/2014/main" id="{21A802C3-7512-414C-8649-97C6084EA862}"/>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Liquid AI benchmark table | Company-produced results, not independent replication</a:t>
            </a:r>
          </a:p>
        </p:txBody>
      </p:sp>
      <p:sp>
        <p:nvSpPr>
          <p:cNvPr id="10" name="">
            <a:extLst xmlns:a="http://schemas.openxmlformats.org/drawingml/2006/main">
              <a:ext uri="{FF2B5EF4-FFF2-40B4-BE49-F238E27FC236}">
                <a16:creationId xmlns:a16="http://schemas.microsoft.com/office/drawing/2014/main" id="{D96428F5-350C-43D3-A5CB-2A9B266067BC}"/>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3/6</a:t>
            </a:r>
          </a:p>
        </p:txBody>
      </p:sp>
    </p:spTree>
    <p:extLst>
      <p:ext uri="{BB962C8B-B14F-4D97-AF65-F5344CB8AC3E}">
        <p14:creationId xmlns:p14="http://schemas.microsoft.com/office/powerpoint/2010/main" val="324468982"/>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D925A5-B232-4F05-9745-2C36DD905EA5}"/>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2965D5BF-F4F4-4BFF-8786-7C036CFFBCB6}"/>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Falcon-ASR: public Arabic tests</a:t>
            </a:r>
          </a:p>
        </p:txBody>
      </p:sp>
      <p:sp>
        <p:nvSpPr>
          <p:cNvPr id="3" name="">
            <a:extLst xmlns:a="http://schemas.openxmlformats.org/drawingml/2006/main">
              <a:ext uri="{FF2B5EF4-FFF2-40B4-BE49-F238E27FC236}">
                <a16:creationId xmlns:a16="http://schemas.microsoft.com/office/drawing/2014/main" id="{A2D6EC83-4DF8-403E-A0A8-110CE44CE8D9}"/>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20.92% WER</a:t>
            </a:r>
          </a:p>
        </p:txBody>
      </p:sp>
      <p:sp>
        <p:nvSpPr>
          <p:cNvPr id="4" name="">
            <a:extLst xmlns:a="http://schemas.openxmlformats.org/drawingml/2006/main">
              <a:ext uri="{FF2B5EF4-FFF2-40B4-BE49-F238E27FC236}">
                <a16:creationId xmlns:a16="http://schemas.microsoft.com/office/drawing/2014/main" id="{B8BE4CDB-0CD1-47C8-8AF4-0A50E922F022}"/>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TII-reported mean</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Six public test sets</a:t>
            </a:r>
          </a:p>
        </p:txBody>
      </p:sp>
      <p:sp>
        <p:nvSpPr>
          <p:cNvPr id="5" name="">
            <a:extLst xmlns:a="http://schemas.openxmlformats.org/drawingml/2006/main">
              <a:ext uri="{FF2B5EF4-FFF2-40B4-BE49-F238E27FC236}">
                <a16:creationId xmlns:a16="http://schemas.microsoft.com/office/drawing/2014/main" id="{E19BEE8B-A862-43D4-A101-B1BBF1F16F4C}"/>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23.17% WER</a:t>
            </a:r>
          </a:p>
        </p:txBody>
      </p:sp>
      <p:sp>
        <p:nvSpPr>
          <p:cNvPr id="6" name="">
            <a:extLst xmlns:a="http://schemas.openxmlformats.org/drawingml/2006/main">
              <a:ext uri="{FF2B5EF4-FFF2-40B4-BE49-F238E27FC236}">
                <a16:creationId xmlns:a16="http://schemas.microsoft.com/office/drawing/2014/main" id="{89B28C4F-4744-4F67-8AE3-58D085283969}"/>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Comparator in TII’s</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September 30, 2026 snapshot</a:t>
            </a:r>
          </a:p>
        </p:txBody>
      </p:sp>
      <p:sp>
        <p:nvSpPr>
          <p:cNvPr id="7" name="">
            <a:extLst xmlns:a="http://schemas.openxmlformats.org/drawingml/2006/main">
              <a:ext uri="{FF2B5EF4-FFF2-40B4-BE49-F238E27FC236}">
                <a16:creationId xmlns:a16="http://schemas.microsoft.com/office/drawing/2014/main" id="{8E35BC08-2EC2-46BB-8152-058D3226AA1E}"/>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LOWER IS BETTER</a:t>
            </a:r>
          </a:p>
        </p:txBody>
      </p:sp>
      <p:sp>
        <p:nvSpPr>
          <p:cNvPr id="8" name="">
            <a:extLst xmlns:a="http://schemas.openxmlformats.org/drawingml/2006/main">
              <a:ext uri="{FF2B5EF4-FFF2-40B4-BE49-F238E27FC236}">
                <a16:creationId xmlns:a16="http://schemas.microsoft.com/office/drawing/2014/main" id="{58AA692B-6DE1-49B8-A913-3F443F21F42A}"/>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Word error rate measures</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transcription mistakes</a:t>
            </a:r>
          </a:p>
        </p:txBody>
      </p:sp>
      <p:sp>
        <p:nvSpPr>
          <p:cNvPr id="9" name="">
            <a:extLst xmlns:a="http://schemas.openxmlformats.org/drawingml/2006/main">
              <a:ext uri="{FF2B5EF4-FFF2-40B4-BE49-F238E27FC236}">
                <a16:creationId xmlns:a16="http://schemas.microsoft.com/office/drawing/2014/main" id="{DA9B380B-9B45-4DB1-85B5-F5BD24F9BF24}"/>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TII | Developer-reported comparison under its stated protocol</a:t>
            </a:r>
          </a:p>
        </p:txBody>
      </p:sp>
      <p:sp>
        <p:nvSpPr>
          <p:cNvPr id="10" name="">
            <a:extLst xmlns:a="http://schemas.openxmlformats.org/drawingml/2006/main">
              <a:ext uri="{FF2B5EF4-FFF2-40B4-BE49-F238E27FC236}">
                <a16:creationId xmlns:a16="http://schemas.microsoft.com/office/drawing/2014/main" id="{61B5B1FC-8352-4E80-B6FF-5F841EB20B18}"/>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4/6</a:t>
            </a:r>
          </a:p>
        </p:txBody>
      </p:sp>
    </p:spTree>
    <p:extLst>
      <p:ext uri="{BB962C8B-B14F-4D97-AF65-F5344CB8AC3E}">
        <p14:creationId xmlns:p14="http://schemas.microsoft.com/office/powerpoint/2010/main" val="690009181"/>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AB37C8-3AEE-4E2C-9DC3-BB68357166BF}"/>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5BFA12D8-7C28-46CB-A12D-B3E7587B3FA1}"/>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A separate Emirati evaluation</a:t>
            </a:r>
          </a:p>
        </p:txBody>
      </p:sp>
      <p:sp>
        <p:nvSpPr>
          <p:cNvPr id="3" name="">
            <a:extLst xmlns:a="http://schemas.openxmlformats.org/drawingml/2006/main">
              <a:ext uri="{FF2B5EF4-FFF2-40B4-BE49-F238E27FC236}">
                <a16:creationId xmlns:a16="http://schemas.microsoft.com/office/drawing/2014/main" id="{2CC43B83-BC95-4BBD-8DEC-2EE51BCAC5D7}"/>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22.73%</a:t>
            </a:r>
          </a:p>
        </p:txBody>
      </p:sp>
      <p:sp>
        <p:nvSpPr>
          <p:cNvPr id="4" name="">
            <a:extLst xmlns:a="http://schemas.openxmlformats.org/drawingml/2006/main">
              <a:ext uri="{FF2B5EF4-FFF2-40B4-BE49-F238E27FC236}">
                <a16:creationId xmlns:a16="http://schemas.microsoft.com/office/drawing/2014/main" id="{033AB5CB-DCA7-46B8-8EF7-F5C5D78744E2}"/>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Word error rate</a:t>
            </a:r>
          </a:p>
        </p:txBody>
      </p:sp>
      <p:sp>
        <p:nvSpPr>
          <p:cNvPr id="5" name="">
            <a:extLst xmlns:a="http://schemas.openxmlformats.org/drawingml/2006/main">
              <a:ext uri="{FF2B5EF4-FFF2-40B4-BE49-F238E27FC236}">
                <a16:creationId xmlns:a16="http://schemas.microsoft.com/office/drawing/2014/main" id="{CFFE0900-2807-4876-95F8-2C6D8E694CC9}"/>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10.19%</a:t>
            </a:r>
          </a:p>
        </p:txBody>
      </p:sp>
      <p:sp>
        <p:nvSpPr>
          <p:cNvPr id="6" name="">
            <a:extLst xmlns:a="http://schemas.openxmlformats.org/drawingml/2006/main">
              <a:ext uri="{FF2B5EF4-FFF2-40B4-BE49-F238E27FC236}">
                <a16:creationId xmlns:a16="http://schemas.microsoft.com/office/drawing/2014/main" id="{25723622-5606-4ADA-9BAE-4DC8F93A69E3}"/>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Character error rate</a:t>
            </a:r>
          </a:p>
        </p:txBody>
      </p:sp>
      <p:sp>
        <p:nvSpPr>
          <p:cNvPr id="7" name="">
            <a:extLst xmlns:a="http://schemas.openxmlformats.org/drawingml/2006/main">
              <a:ext uri="{FF2B5EF4-FFF2-40B4-BE49-F238E27FC236}">
                <a16:creationId xmlns:a16="http://schemas.microsoft.com/office/drawing/2014/main" id="{98924DB2-6F01-42A5-BCFA-0AD764974E9F}"/>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OPEN QUESTION</a:t>
            </a:r>
          </a:p>
        </p:txBody>
      </p:sp>
      <p:sp>
        <p:nvSpPr>
          <p:cNvPr id="8" name="">
            <a:extLst xmlns:a="http://schemas.openxmlformats.org/drawingml/2006/main">
              <a:ext uri="{FF2B5EF4-FFF2-40B4-BE49-F238E27FC236}">
                <a16:creationId xmlns:a16="http://schemas.microsoft.com/office/drawing/2014/main" id="{B004C70D-9B11-4DA1-8411-3ABA5DC9BC2C}"/>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How representative</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were the recordings?</a:t>
            </a:r>
          </a:p>
        </p:txBody>
      </p:sp>
      <p:sp>
        <p:nvSpPr>
          <p:cNvPr id="9" name="">
            <a:extLst xmlns:a="http://schemas.openxmlformats.org/drawingml/2006/main">
              <a:ext uri="{FF2B5EF4-FFF2-40B4-BE49-F238E27FC236}">
                <a16:creationId xmlns:a16="http://schemas.microsoft.com/office/drawing/2014/main" id="{A3961773-546A-4086-873A-7D981025BDCF}"/>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 TII internal held-out evaluation | Sample size and representativeness not specified here</a:t>
            </a:r>
          </a:p>
        </p:txBody>
      </p:sp>
      <p:sp>
        <p:nvSpPr>
          <p:cNvPr id="10" name="">
            <a:extLst xmlns:a="http://schemas.openxmlformats.org/drawingml/2006/main">
              <a:ext uri="{FF2B5EF4-FFF2-40B4-BE49-F238E27FC236}">
                <a16:creationId xmlns:a16="http://schemas.microsoft.com/office/drawing/2014/main" id="{0BBD6E8E-BC8D-4269-9B80-3E064ADA3AF6}"/>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5/6</a:t>
            </a:r>
          </a:p>
        </p:txBody>
      </p:sp>
    </p:spTree>
    <p:extLst>
      <p:ext uri="{BB962C8B-B14F-4D97-AF65-F5344CB8AC3E}">
        <p14:creationId xmlns:p14="http://schemas.microsoft.com/office/powerpoint/2010/main" val="540558644"/>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4EFFAB-5C43-45CA-BE4F-B747A5F77CE2}"/>
              </a:ext>
            </a:extLst>
          </p:cNvPr>
          <p:cNvSpPr>
            <a:spLocks xmlns:a="http://schemas.openxmlformats.org/drawingml/2006/main" noGrp="1"/>
          </p:cNvSpPr>
          <p:nvPr/>
        </p:nvSpPr>
        <p:spPr>
          <a:xfrm xmlns:a="http://schemas.openxmlformats.org/drawingml/2006/main">
            <a:off x="609600" y="3238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B7378"/>
                </a:solidFill>
                <a:latin typeface="Arial"/>
                <a:ea typeface="Arial"/>
                <a:cs typeface="Arial"/>
              </a:defRPr>
            </a:pPr>
            <a:r>
              <a:rPr sz="1500" b="1">
                <a:solidFill>
                  <a:srgbClr val="1B7378"/>
                </a:solidFill>
                <a:latin typeface="Arial"/>
                <a:ea typeface="Arial"/>
                <a:cs typeface="Arial"/>
              </a:rPr>
              <a:t>AI FRONTIER WATCH  /  02</a:t>
            </a:r>
          </a:p>
        </p:txBody>
      </p:sp>
      <p:sp>
        <p:nvSpPr>
          <p:cNvPr id="2" name="">
            <a:extLst xmlns:a="http://schemas.openxmlformats.org/drawingml/2006/main">
              <a:ext uri="{FF2B5EF4-FFF2-40B4-BE49-F238E27FC236}">
                <a16:creationId xmlns:a16="http://schemas.microsoft.com/office/drawing/2014/main" id="{6ABDE2FF-67E3-4713-B27A-510F637097CF}"/>
              </a:ext>
            </a:extLst>
          </p:cNvPr>
          <p:cNvSpPr>
            <a:spLocks xmlns:a="http://schemas.openxmlformats.org/drawingml/2006/main" noGrp="1"/>
          </p:cNvSpPr>
          <p:nvPr/>
        </p:nvSpPr>
        <p:spPr>
          <a:xfrm xmlns:a="http://schemas.openxmlformats.org/drawingml/2006/main">
            <a:off x="609600" y="97155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73138"/>
                </a:solidFill>
                <a:latin typeface="Arial"/>
                <a:ea typeface="Arial"/>
                <a:cs typeface="Arial"/>
              </a:defRPr>
            </a:pPr>
            <a:r>
              <a:rPr sz="3450" b="1">
                <a:solidFill>
                  <a:srgbClr val="173138"/>
                </a:solidFill>
                <a:latin typeface="Arial"/>
                <a:ea typeface="Arial"/>
                <a:cs typeface="Arial"/>
              </a:rPr>
              <a:t>What does the test establish?</a:t>
            </a:r>
          </a:p>
        </p:txBody>
      </p:sp>
      <p:sp>
        <p:nvSpPr>
          <p:cNvPr id="3" name="">
            <a:extLst xmlns:a="http://schemas.openxmlformats.org/drawingml/2006/main">
              <a:ext uri="{FF2B5EF4-FFF2-40B4-BE49-F238E27FC236}">
                <a16:creationId xmlns:a16="http://schemas.microsoft.com/office/drawing/2014/main" id="{4BD6ED06-D34B-4288-8B31-0F0D8BA8D6A4}"/>
              </a:ext>
            </a:extLst>
          </p:cNvPr>
          <p:cNvSpPr>
            <a:spLocks xmlns:a="http://schemas.openxmlformats.org/drawingml/2006/main" noGrp="1"/>
          </p:cNvSpPr>
          <p:nvPr/>
        </p:nvSpPr>
        <p:spPr>
          <a:xfrm xmlns:a="http://schemas.openxmlformats.org/drawingml/2006/main">
            <a:off x="6096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HiRO-ACEv2</a:t>
            </a:r>
          </a:p>
        </p:txBody>
      </p:sp>
      <p:sp>
        <p:nvSpPr>
          <p:cNvPr id="4" name="">
            <a:extLst xmlns:a="http://schemas.openxmlformats.org/drawingml/2006/main">
              <a:ext uri="{FF2B5EF4-FFF2-40B4-BE49-F238E27FC236}">
                <a16:creationId xmlns:a16="http://schemas.microsoft.com/office/drawing/2014/main" id="{8A216F30-3B40-45C1-AA4B-CBF8CF9A0046}"/>
              </a:ext>
            </a:extLst>
          </p:cNvPr>
          <p:cNvSpPr>
            <a:spLocks xmlns:a="http://schemas.openxmlformats.org/drawingml/2006/main" noGrp="1"/>
          </p:cNvSpPr>
          <p:nvPr/>
        </p:nvSpPr>
        <p:spPr>
          <a:xfrm xmlns:a="http://schemas.openxmlformats.org/drawingml/2006/main">
            <a:off x="6096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Finer simulated weather</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ACE tuned to X-SHiELD</a:t>
            </a:r>
          </a:p>
        </p:txBody>
      </p:sp>
      <p:sp>
        <p:nvSpPr>
          <p:cNvPr id="5" name="">
            <a:extLst xmlns:a="http://schemas.openxmlformats.org/drawingml/2006/main">
              <a:ext uri="{FF2B5EF4-FFF2-40B4-BE49-F238E27FC236}">
                <a16:creationId xmlns:a16="http://schemas.microsoft.com/office/drawing/2014/main" id="{F3AA139F-4C59-4EF7-ACEE-9C9657E7BF33}"/>
              </a:ext>
            </a:extLst>
          </p:cNvPr>
          <p:cNvSpPr>
            <a:spLocks xmlns:a="http://schemas.openxmlformats.org/drawingml/2006/main" noGrp="1"/>
          </p:cNvSpPr>
          <p:nvPr/>
        </p:nvSpPr>
        <p:spPr>
          <a:xfrm xmlns:a="http://schemas.openxmlformats.org/drawingml/2006/main">
            <a:off x="440055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EXPERIMENT DISCIPLINE</a:t>
            </a:r>
          </a:p>
        </p:txBody>
      </p:sp>
      <p:sp>
        <p:nvSpPr>
          <p:cNvPr id="6" name="">
            <a:extLst xmlns:a="http://schemas.openxmlformats.org/drawingml/2006/main">
              <a:ext uri="{FF2B5EF4-FFF2-40B4-BE49-F238E27FC236}">
                <a16:creationId xmlns:a16="http://schemas.microsoft.com/office/drawing/2014/main" id="{84D92D73-AA9A-4802-AA18-BE039D6811DD}"/>
              </a:ext>
            </a:extLst>
          </p:cNvPr>
          <p:cNvSpPr>
            <a:spLocks xmlns:a="http://schemas.openxmlformats.org/drawingml/2006/main" noGrp="1"/>
          </p:cNvSpPr>
          <p:nvPr/>
        </p:nvSpPr>
        <p:spPr>
          <a:xfrm xmlns:a="http://schemas.openxmlformats.org/drawingml/2006/main">
            <a:off x="440055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Baseline → small test → cost cap</a:t>
            </a:r>
          </a:p>
        </p:txBody>
      </p:sp>
      <p:sp>
        <p:nvSpPr>
          <p:cNvPr id="7" name="">
            <a:extLst xmlns:a="http://schemas.openxmlformats.org/drawingml/2006/main">
              <a:ext uri="{FF2B5EF4-FFF2-40B4-BE49-F238E27FC236}">
                <a16:creationId xmlns:a16="http://schemas.microsoft.com/office/drawing/2014/main" id="{554B0EE3-4514-47CD-BEC0-14769D12B82B}"/>
              </a:ext>
            </a:extLst>
          </p:cNvPr>
          <p:cNvSpPr>
            <a:spLocks xmlns:a="http://schemas.openxmlformats.org/drawingml/2006/main" noGrp="1"/>
          </p:cNvSpPr>
          <p:nvPr/>
        </p:nvSpPr>
        <p:spPr>
          <a:xfrm xmlns:a="http://schemas.openxmlformats.org/drawingml/2006/main">
            <a:off x="8191500" y="266700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B7378"/>
                </a:solidFill>
                <a:latin typeface="Arial"/>
                <a:ea typeface="Arial"/>
                <a:cs typeface="Arial"/>
              </a:defRPr>
            </a:pPr>
            <a:r>
              <a:rPr sz="2025" b="1">
                <a:solidFill>
                  <a:srgbClr val="1B7378"/>
                </a:solidFill>
                <a:latin typeface="Arial"/>
                <a:ea typeface="Arial"/>
                <a:cs typeface="Arial"/>
              </a:rPr>
              <a:t>THE DECISION</a:t>
            </a:r>
          </a:p>
        </p:txBody>
      </p:sp>
      <p:sp>
        <p:nvSpPr>
          <p:cNvPr id="8" name="">
            <a:extLst xmlns:a="http://schemas.openxmlformats.org/drawingml/2006/main">
              <a:ext uri="{FF2B5EF4-FFF2-40B4-BE49-F238E27FC236}">
                <a16:creationId xmlns:a16="http://schemas.microsoft.com/office/drawing/2014/main" id="{7FC3A8E6-14C2-43A5-AC59-43467218B056}"/>
              </a:ext>
            </a:extLst>
          </p:cNvPr>
          <p:cNvSpPr>
            <a:spLocks xmlns:a="http://schemas.openxmlformats.org/drawingml/2006/main" noGrp="1"/>
          </p:cNvSpPr>
          <p:nvPr/>
        </p:nvSpPr>
        <p:spPr>
          <a:xfrm xmlns:a="http://schemas.openxmlformats.org/drawingml/2006/main">
            <a:off x="8191500" y="3524250"/>
            <a:ext cx="3333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Does the test match</a:t>
            </a:r>
          </a:p>
          <a:p xmlns:a="http://schemas.openxmlformats.org/drawingml/2006/main">
            <a:pPr>
              <a:buNone/>
              <a:defRPr sz="2175" b="0">
                <a:solidFill>
                  <a:srgbClr val="173138"/>
                </a:solidFill>
                <a:latin typeface="Arial"/>
                <a:ea typeface="Arial"/>
                <a:cs typeface="Arial"/>
              </a:defRPr>
            </a:pPr>
            <a:r>
              <a:rPr sz="2175" b="0">
                <a:solidFill>
                  <a:srgbClr val="173138"/>
                </a:solidFill>
                <a:latin typeface="Arial"/>
                <a:ea typeface="Arial"/>
                <a:cs typeface="Arial"/>
              </a:rPr>
              <a:t>your intended use?</a:t>
            </a:r>
          </a:p>
        </p:txBody>
      </p:sp>
      <p:sp>
        <p:nvSpPr>
          <p:cNvPr id="9" name="">
            <a:extLst xmlns:a="http://schemas.openxmlformats.org/drawingml/2006/main">
              <a:ext uri="{FF2B5EF4-FFF2-40B4-BE49-F238E27FC236}">
                <a16:creationId xmlns:a16="http://schemas.microsoft.com/office/drawing/2014/main" id="{6AEBFD37-2711-45EB-9C2C-5F8CFBC1C85D}"/>
              </a:ext>
            </a:extLst>
          </p:cNvPr>
          <p:cNvSpPr>
            <a:spLocks xmlns:a="http://schemas.openxmlformats.org/drawingml/2006/main" noGrp="1"/>
          </p:cNvSpPr>
          <p:nvPr/>
        </p:nvSpPr>
        <p:spPr>
          <a:xfrm xmlns:a="http://schemas.openxmlformats.org/drawingml/2006/main">
            <a:off x="609600" y="5410200"/>
            <a:ext cx="10934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435D65"/>
                </a:solidFill>
                <a:latin typeface="Arial"/>
                <a:ea typeface="Arial"/>
                <a:cs typeface="Arial"/>
              </a:defRPr>
            </a:pPr>
            <a:r>
              <a:rPr sz="1425" b="0">
                <a:solidFill>
                  <a:srgbClr val="435D65"/>
                </a:solidFill>
                <a:latin typeface="Arial"/>
                <a:ea typeface="Arial"/>
                <a:cs typeface="Arial"/>
              </a:rPr>
              <a:t>Sources: Ai2 · ML Intern post | Simulation conditions and self-reported practices limit conclusions</a:t>
            </a:r>
          </a:p>
        </p:txBody>
      </p:sp>
      <p:sp>
        <p:nvSpPr>
          <p:cNvPr id="10" name="">
            <a:extLst xmlns:a="http://schemas.openxmlformats.org/drawingml/2006/main">
              <a:ext uri="{FF2B5EF4-FFF2-40B4-BE49-F238E27FC236}">
                <a16:creationId xmlns:a16="http://schemas.microsoft.com/office/drawing/2014/main" id="{8975BF63-3E56-477D-8B78-CA49DE9DB4D5}"/>
              </a:ext>
            </a:extLst>
          </p:cNvPr>
          <p:cNvSpPr>
            <a:spLocks xmlns:a="http://schemas.openxmlformats.org/drawingml/2006/main" noGrp="1"/>
          </p:cNvSpPr>
          <p:nvPr/>
        </p:nvSpPr>
        <p:spPr>
          <a:xfrm xmlns:a="http://schemas.openxmlformats.org/drawingml/2006/main">
            <a:off x="609600" y="6381750"/>
            <a:ext cx="1093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35D65"/>
                </a:solidFill>
                <a:latin typeface="Arial"/>
                <a:ea typeface="Arial"/>
                <a:cs typeface="Arial"/>
              </a:defRPr>
            </a:pPr>
            <a:r>
              <a:rPr sz="1275" b="0">
                <a:solidFill>
                  <a:srgbClr val="435D65"/>
                </a:solidFill>
                <a:latin typeface="Arial"/>
                <a:ea typeface="Arial"/>
                <a:cs typeface="Arial"/>
              </a:rPr>
              <a:t>Evidence: 2026-10-14 UTC  ·  AI narration; illustrative graphics  ·  6/6</a:t>
            </a:r>
          </a:p>
        </p:txBody>
      </p:sp>
    </p:spTree>
    <p:extLst>
      <p:ext uri="{BB962C8B-B14F-4D97-AF65-F5344CB8AC3E}">
        <p14:creationId xmlns:p14="http://schemas.microsoft.com/office/powerpoint/2010/main" val="1590965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2026-10-15T03:02:17.7310000Z</dcterms:created>
  <dcterms:modified xsi:type="dcterms:W3CDTF">2026-10-15T03:02:17.7310000Z</dcterms:modified>
</coreProperties>
</file>